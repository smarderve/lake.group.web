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D700"/>
                </a:solidFill>
                <a:latin typeface="Calibri"/>
              </a:defRPr>
            </a:pPr>
            <a:r>
              <a:t>LAKE GROUP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240280"/>
            <a:ext cx="128016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Digital Platform</a:t>
            </a:r>
            <a:br/>
            <a:r>
              <a:t>Technical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CD4E8"/>
                </a:solidFill>
                <a:latin typeface="Calibri"/>
              </a:defRPr>
            </a:pPr>
            <a:r>
              <a:t>Architecture, systems &amp; reference — aligned with DEVELOPER_GUIDE.pdf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AB4CC"/>
                </a:solidFill>
                <a:latin typeface="Calibri"/>
              </a:defRPr>
            </a:pPr>
            <a:r>
              <a:t>29 pages  ·  3 languages  ·  9 countries  ·  PWA-enabled  ·  www.lakeoilgroup.com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700"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1000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02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80"/>
                </p:stCondLst>
                <p:childTnLst>
                  <p:par>
                    <p:cTn id="1000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03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160"/>
                </p:stCondLst>
                <p:childTnLst>
                  <p:par>
                    <p:cTn id="1000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04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Agenda — Developer Guide Sections (1–20)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01   Architecture Overview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02   Technology Stack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03   Production File Tree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04   Shared Page Anatomy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05   HTML Page Reference (29 pages)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06   JavaScript Modules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07   CSS Design Systems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07b   Meridian Component Catalog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08   3D Hero (hero-3d.js)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08b   3D Hero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09   Progressive Web App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10   Internationalization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11   Knowledge Assistant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11b   Assistant Deep Dive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12   News System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13   Africa Network Map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14   Build &amp; Maintenance Scripts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15   SEO &amp; Structured Data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16   Deployment Checklist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17   Accessibility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5" fill="hold">
                <p:stCondLst>
                  <p:cond delay="0"/>
                </p:stCondLst>
                <p:childTnLst>
                  <p:par>
                    <p:cTn id="1000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05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80"/>
                </p:stCondLst>
                <p:childTnLst>
                  <p:par>
                    <p:cTn id="1000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06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7" fill="hold">
                <p:stCondLst>
                  <p:cond delay="160"/>
                </p:stCondLst>
                <p:childTnLst>
                  <p:par>
                    <p:cTn id="1000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07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Agenda — Developer Guide Sections (21–40)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18   Appendices &amp; Glossary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19   Troubleshooting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20   Firebase Hosting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21   Image Assets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22   i18n Key Conventions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23   Extended Page Docs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24   Extended JS Docs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25   Developer Workflows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26   Security Notes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27   Performance Budget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28   Version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29   News Article Index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30   Subsidiaries &amp; Page Mapping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31   Vendor Libraries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32   Glossary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33   Structured Data by Page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34   Cache Strategy Matrix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35   ADR Summary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36   Cross-Reference Index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39   Page Technical Essays</a:t>
            </a:r>
          </a:p>
          <a:p>
            <a:pPr>
              <a:spcAft>
                <a:spcPts val="500"/>
              </a:spcAft>
              <a:defRPr sz="1300">
                <a:solidFill>
                  <a:srgbClr val="1A2340"/>
                </a:solidFill>
                <a:latin typeface="Calibri"/>
              </a:defRPr>
            </a:pPr>
            <a:r>
              <a:t>40   Build Scripts Encyclopedia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8" fill="hold">
                <p:stCondLst>
                  <p:cond delay="0"/>
                </p:stCondLst>
                <p:childTnLst>
                  <p:par>
                    <p:cTn id="1000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08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9" fill="hold">
                <p:stCondLst>
                  <p:cond delay="80"/>
                </p:stCondLst>
                <p:childTnLst>
                  <p:par>
                    <p:cTn id="1000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09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0" fill="hold">
                <p:stCondLst>
                  <p:cond delay="160"/>
                </p:stCondLst>
                <p:childTnLst>
                  <p:par>
                    <p:cTn id="1001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10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Platform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1783080" cy="3291840"/>
          </a:xfrm>
          <a:prstGeom prst="rect">
            <a:avLst/>
          </a:prstGeom>
          <a:solidFill>
            <a:srgbClr val="F6F5F1"/>
          </a:solidFill>
          <a:ln>
            <a:solidFill>
              <a:srgbClr val="D8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48840"/>
            <a:ext cx="1554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1D3EA8"/>
                </a:solidFill>
                <a:latin typeface="Calibri"/>
              </a:defRPr>
            </a:pPr>
            <a: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00400"/>
            <a:ext cx="1554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6478"/>
                </a:solidFill>
                <a:latin typeface="Calibri"/>
              </a:defRPr>
            </a:pPr>
            <a:r>
              <a:t>HTML pages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1828800"/>
            <a:ext cx="1783080" cy="3291840"/>
          </a:xfrm>
          <a:prstGeom prst="rect">
            <a:avLst/>
          </a:prstGeom>
          <a:solidFill>
            <a:srgbClr val="F6F5F1"/>
          </a:solidFill>
          <a:ln>
            <a:solidFill>
              <a:srgbClr val="D8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44368" y="2148840"/>
            <a:ext cx="1554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1D3EA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3200400"/>
            <a:ext cx="1554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6478"/>
                </a:solidFill>
                <a:latin typeface="Calibri"/>
              </a:defRPr>
            </a:pPr>
            <a:r>
              <a:t>Languages</a:t>
            </a:r>
            <a:br/>
            <a:r>
              <a:t>EN · FR · SW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1828800"/>
            <a:ext cx="1783080" cy="3291840"/>
          </a:xfrm>
          <a:prstGeom prst="rect">
            <a:avLst/>
          </a:prstGeom>
          <a:solidFill>
            <a:srgbClr val="F6F5F1"/>
          </a:solidFill>
          <a:ln>
            <a:solidFill>
              <a:srgbClr val="D8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6048" y="2148840"/>
            <a:ext cx="1554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1D3EA8"/>
                </a:solidFill>
                <a:latin typeface="Calibri"/>
              </a:defRPr>
            </a:pPr>
            <a:r>
              <a:t>1,442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3200400"/>
            <a:ext cx="1554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6478"/>
                </a:solidFill>
                <a:latin typeface="Calibri"/>
              </a:defRPr>
            </a:pPr>
            <a:r>
              <a:t>i18n keys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1828800"/>
            <a:ext cx="1783080" cy="3291840"/>
          </a:xfrm>
          <a:prstGeom prst="rect">
            <a:avLst/>
          </a:prstGeom>
          <a:solidFill>
            <a:srgbClr val="F6F5F1"/>
          </a:solidFill>
          <a:ln>
            <a:solidFill>
              <a:srgbClr val="D8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2148840"/>
            <a:ext cx="1554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1D3EA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200400"/>
            <a:ext cx="1554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6478"/>
                </a:solidFill>
                <a:latin typeface="Calibri"/>
              </a:defRPr>
            </a:pPr>
            <a:r>
              <a:t>Verified</a:t>
            </a:r>
            <a:br/>
            <a:r>
              <a:t>countries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1828800"/>
            <a:ext cx="1783080" cy="3291840"/>
          </a:xfrm>
          <a:prstGeom prst="rect">
            <a:avLst/>
          </a:prstGeom>
          <a:solidFill>
            <a:srgbClr val="F6F5F1"/>
          </a:solidFill>
          <a:ln>
            <a:solidFill>
              <a:srgbClr val="D8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9408" y="2148840"/>
            <a:ext cx="1554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1D3EA8"/>
                </a:solidFill>
                <a:latin typeface="Calibri"/>
              </a:defRPr>
            </a:pPr>
            <a:r>
              <a:t>v10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9408" y="3200400"/>
            <a:ext cx="1554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A6478"/>
                </a:solidFill>
                <a:latin typeface="Calibri"/>
              </a:defRPr>
            </a:pPr>
            <a:r>
              <a:t>Service</a:t>
            </a:r>
            <a:br/>
            <a:r>
              <a:t>Worker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split dur="550" orient="horz" dir="out"/>
  </p:transition>
  <p:timing>
    <p:tnLst>
      <p:par>
        <p:cTn id="1" dur="indefinite" restart="never" nodeType="tmRoot">
          <p:childTnLst>
            <p:par>
              <p:cTn id="11" fill="hold">
                <p:stCondLst>
                  <p:cond delay="0"/>
                </p:stCondLst>
                <p:childTnLst>
                  <p:par>
                    <p:cTn id="1001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11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2" fill="hold">
                <p:stCondLst>
                  <p:cond delay="80"/>
                </p:stCondLst>
                <p:childTnLst>
                  <p:par>
                    <p:cTn id="1001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12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3" fill="hold">
                <p:stCondLst>
                  <p:cond delay="160"/>
                </p:stCondLst>
                <p:childTnLst>
                  <p:par>
                    <p:cTn id="1001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13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4" fill="hold">
                <p:stCondLst>
                  <p:cond delay="240"/>
                </p:stCondLst>
                <p:childTnLst>
                  <p:par>
                    <p:cTn id="1001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14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5" fill="hold">
                <p:stCondLst>
                  <p:cond delay="320"/>
                </p:stCondLst>
                <p:childTnLst>
                  <p:par>
                    <p:cTn id="1001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15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6" fill="hold">
                <p:stCondLst>
                  <p:cond delay="400"/>
                </p:stCondLst>
                <p:childTnLst>
                  <p:par>
                    <p:cTn id="1001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16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7" fill="hold">
                <p:stCondLst>
                  <p:cond delay="480"/>
                </p:stCondLst>
                <p:childTnLst>
                  <p:par>
                    <p:cTn id="1001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17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8" fill="hold">
                <p:stCondLst>
                  <p:cond delay="560"/>
                </p:stCondLst>
                <p:childTnLst>
                  <p:par>
                    <p:cTn id="1001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18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9" fill="hold">
                <p:stCondLst>
                  <p:cond delay="640"/>
                </p:stCondLst>
                <p:childTnLst>
                  <p:par>
                    <p:cTn id="1001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19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0" fill="hold">
                <p:stCondLst>
                  <p:cond delay="720"/>
                </p:stCondLst>
                <p:childTnLst>
                  <p:par>
                    <p:cTn id="1002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20" dur="350" fill="hold"/>
                            <p:tgtEl>
                              <p:spTgt spid="1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1" fill="hold">
                <p:stCondLst>
                  <p:cond delay="800"/>
                </p:stCondLst>
                <p:childTnLst>
                  <p:par>
                    <p:cTn id="1002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21" dur="350" fill="hold"/>
                            <p:tgtEl>
                              <p:spTgt spid="1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2" fill="hold">
                <p:stCondLst>
                  <p:cond delay="880"/>
                </p:stCondLst>
                <p:childTnLst>
                  <p:par>
                    <p:cTn id="1002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22" dur="350" fill="hold"/>
                            <p:tgtEl>
                              <p:spTgt spid="1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3" fill="hold">
                <p:stCondLst>
                  <p:cond delay="960"/>
                </p:stCondLst>
                <p:childTnLst>
                  <p:par>
                    <p:cTn id="1002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23" dur="350" fill="hold"/>
                            <p:tgtEl>
                              <p:spTgt spid="1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4" fill="hold">
                <p:stCondLst>
                  <p:cond delay="1040"/>
                </p:stCondLst>
                <p:childTnLst>
                  <p:par>
                    <p:cTn id="1002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24" dur="350" fill="hold"/>
                            <p:tgtEl>
                              <p:spTgt spid="1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5" fill="hold">
                <p:stCondLst>
                  <p:cond delay="1120"/>
                </p:stCondLst>
                <p:childTnLst>
                  <p:par>
                    <p:cTn id="1002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25" dur="350" fill="hold"/>
                            <p:tgtEl>
                              <p:spTgt spid="1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6" fill="hold">
                <p:stCondLst>
                  <p:cond delay="1200"/>
                </p:stCondLst>
                <p:childTnLst>
                  <p:par>
                    <p:cTn id="1002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26" dur="350" fill="hold"/>
                            <p:tgtEl>
                              <p:spTgt spid="2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Static multi-page application — no SPA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27" fill="hold">
                <p:stCondLst>
                  <p:cond delay="0"/>
                </p:stCondLst>
                <p:childTnLst>
                  <p:par>
                    <p:cTn id="1002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27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8" fill="hold">
                <p:stCondLst>
                  <p:cond delay="80"/>
                </p:stCondLst>
                <p:childTnLst>
                  <p:par>
                    <p:cTn id="1002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28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9" fill="hold">
                <p:stCondLst>
                  <p:cond delay="160"/>
                </p:stCondLst>
                <p:childTnLst>
                  <p:par>
                    <p:cTn id="1002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29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High-Level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solidFill>
            <a:srgbClr val="F6F5F1"/>
          </a:solidFill>
          <a:ln>
            <a:solidFill>
              <a:srgbClr val="D8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63500" cy="475488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│                     Browser (Client)      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│  index.html … sustainability.html  (29 pages)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│       ├── flagship.css OR theme.css  (design system)      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│       ├── site.js + i18n.js + assistant.js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│       └── page-specific: hero-3d, leaflet, news.js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├─────────────────────────────────────────────────────────────┤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│  Service Worker (sw.js) — precache, offline, cache routing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│  manifest.webmanifest — installable PWA metadata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       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                          ▼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│  Firebase Hosting  →  npm run deploy  →  global CDN + HTTPS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ll dur="500"/>
  </p:transition>
  <p:timing>
    <p:tnLst>
      <p:par>
        <p:cTn id="1" dur="indefinite" restart="never" nodeType="tmRoot">
          <p:childTnLst>
            <p:par>
              <p:cTn id="30" fill="hold">
                <p:stCondLst>
                  <p:cond delay="0"/>
                </p:stCondLst>
                <p:childTnLst>
                  <p:par>
                    <p:cTn id="1003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30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1" fill="hold">
                <p:stCondLst>
                  <p:cond delay="80"/>
                </p:stCondLst>
                <p:childTnLst>
                  <p:par>
                    <p:cTn id="1003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31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Static-first: no server-side rendering; all copy ships in HTML + i18n-content.js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file:// safe: critical data loads via &lt;script&gt; globals, not fetch()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Progressive enhancement: pages render without JS; motion, assistant, 3D enhance when available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Template-driven chrome: nav, footer, chat widget from scripts/templates/ via normalize_nav.py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lake-3d/ Next.js project is NOT linked from production — live 3D is hero-3d.bundle.js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2" fill="hold">
                <p:stCondLst>
                  <p:cond delay="0"/>
                </p:stCondLst>
                <p:childTnLst>
                  <p:par>
                    <p:cTn id="1003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32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3" fill="hold">
                <p:stCondLst>
                  <p:cond delay="80"/>
                </p:stCondLst>
                <p:childTnLst>
                  <p:par>
                    <p:cTn id="1003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33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Load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① Browser parses HTML; inline critical CSS paints first paint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② External CSS (flagship/theme + assistant) loads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③ Deferred scripts: i18n-content → i18n → site → flexsearch → assistant-kb → assistant → pwa → motion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④ DOMContentLoaded: site.js inits nav, reveals, counters; LakeI18n applies stored language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⑤ load: pwa.js registers service worker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⑥ index.html only: IntersectionObserver lazy-loads hero-3d.bundle.js (+600px rootMargin)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4" fill="hold">
                <p:stCondLst>
                  <p:cond delay="0"/>
                </p:stCondLst>
                <p:childTnLst>
                  <p:par>
                    <p:cTn id="1003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34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5" fill="hold">
                <p:stCondLst>
                  <p:cond delay="80"/>
                </p:stCondLst>
                <p:childTnLst>
                  <p:par>
                    <p:cTn id="1003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35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Dual Design System Migration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theme.css (Legacy)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index.html only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Blue/yellow corporate, 4–10px radius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motion.js (.reveal animations)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Yellow divider bars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flagship.css (Meridian)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28 interior pages migrated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Ink/paper editorial, Bebas display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flagship-motion.js (.fx-* choreography)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Meridian tick + corner brackets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6" fill="hold">
                <p:stCondLst>
                  <p:cond delay="0"/>
                </p:stCondLst>
                <p:childTnLst>
                  <p:par>
                    <p:cTn id="1003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36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7" fill="hold">
                <p:stCondLst>
                  <p:cond delay="80"/>
                </p:stCondLst>
                <p:childTnLst>
                  <p:par>
                    <p:cTn id="1003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37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8" fill="hold">
                <p:stCondLst>
                  <p:cond delay="160"/>
                </p:stCondLst>
                <p:childTnLst>
                  <p:par>
                    <p:cTn id="1003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38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9" fill="hold">
                <p:stCondLst>
                  <p:cond delay="240"/>
                </p:stCondLst>
                <p:childTnLst>
                  <p:par>
                    <p:cTn id="1003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39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0" fill="hold">
                <p:stCondLst>
                  <p:cond delay="320"/>
                </p:stCondLst>
                <p:childTnLst>
                  <p:par>
                    <p:cTn id="1004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40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Complete inventory with rationale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41" fill="hold">
                <p:stCondLst>
                  <p:cond delay="0"/>
                </p:stCondLst>
                <p:childTnLst>
                  <p:par>
                    <p:cTn id="1004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41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2" fill="hold">
                <p:stCondLst>
                  <p:cond delay="80"/>
                </p:stCondLst>
                <p:childTnLst>
                  <p:par>
                    <p:cTn id="1004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42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3" fill="hold">
                <p:stCondLst>
                  <p:cond delay="160"/>
                </p:stCondLst>
                <p:childTnLst>
                  <p:par>
                    <p:cTn id="1004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43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79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438400"/>
                <a:gridCol w="5608319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Chosen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HTML5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Page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Zero build step; SEO-friendly; works everywhere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CSS3 (inline + flagship/theme)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Styling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Critical CSS inlined for FCP; shared system for consistency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Vanilla JavaScript (ES5/IIFE)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Behaviour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No framework runtime; small payload; file:// compatible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Three.js (vendor)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3D hero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Industry-standard WebGL; bundled for non-module contexts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Leaflet 1.x (vendor)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Africa 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Lightweight maps; Esri/OSM tile support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FlexSearch (vendor)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Assistant search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Client-side full-text index; offline capable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Firebase Hosting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CDN, HTTPS; team uses Firebase CLI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Service Worker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PWA / offline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Precache shell; stale-while-revalidate for assets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Python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Build tooling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i18n extraction, font self-hosting, nav normalization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Node.js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KB build, SW lang, QA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build_assistant_kb.js, add_* tag scripts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esbuild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3D bundle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Inlines Three.js import into classic script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Self-hosted fonts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Typography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Inter, Bebas Neue, Playfair — no Google Fonts CDN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44" fill="hold">
                <p:stCondLst>
                  <p:cond delay="0"/>
                </p:stCondLst>
                <p:childTnLst>
                  <p:par>
                    <p:cTn id="1004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44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5" fill="hold">
                <p:stCondLst>
                  <p:cond delay="80"/>
                </p:stCondLst>
                <p:childTnLst>
                  <p:par>
                    <p:cTn id="1004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45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Production File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Repository layout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46" fill="hold">
                <p:stCondLst>
                  <p:cond delay="0"/>
                </p:stCondLst>
                <p:childTnLst>
                  <p:par>
                    <p:cTn id="1004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46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7" fill="hold">
                <p:stCondLst>
                  <p:cond delay="80"/>
                </p:stCondLst>
                <p:childTnLst>
                  <p:par>
                    <p:cTn id="1004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47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8" fill="hold">
                <p:stCondLst>
                  <p:cond delay="160"/>
                </p:stCondLst>
                <p:childTnLst>
                  <p:par>
                    <p:cTn id="1004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48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Key Production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solidFill>
            <a:srgbClr val="F6F5F1"/>
          </a:solidFill>
          <a:ln>
            <a:solidFill>
              <a:srgbClr val="D8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63500" cy="475488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├── index.html, about.html … sustainability.html  (29 HTML pages)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├── assets/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│   ├── flagship.css, theme.css, assistant.css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│   ├── site.js, i18n.js, i18n-content.js, pwa.js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│   ├── motion.js, flagship-motion.js, hero-3d.bundle.js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│   ├── assistant.js, assistant-kb.js, news.js, news-data.js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│   ├── africa-network-map.js, data_countries_africa.js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│   ├── fonts/, images/, icons/pwa/, vendor/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├── scripts/  (build, QA, templates/)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├── sw.js, manifest.webmanifest, robots.txt, sitemap.xml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└── docs/DEVELOPER_GUIDE.pdf, developer-guide.html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ll dur="500"/>
  </p:transition>
  <p:timing>
    <p:tnLst>
      <p:par>
        <p:cTn id="1" dur="indefinite" restart="never" nodeType="tmRoot">
          <p:childTnLst>
            <p:par>
              <p:cTn id="49" fill="hold">
                <p:stCondLst>
                  <p:cond delay="0"/>
                </p:stCondLst>
                <p:childTnLst>
                  <p:par>
                    <p:cTn id="1004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49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50" fill="hold">
                <p:stCondLst>
                  <p:cond delay="80"/>
                </p:stCondLst>
                <p:childTnLst>
                  <p:par>
                    <p:cTn id="1005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50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Shared Page 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Standard HTML structure on every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51" fill="hold">
                <p:stCondLst>
                  <p:cond delay="0"/>
                </p:stCondLst>
                <p:childTnLst>
                  <p:par>
                    <p:cTn id="1005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51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52" fill="hold">
                <p:stCondLst>
                  <p:cond delay="80"/>
                </p:stCondLst>
                <p:childTnLst>
                  <p:par>
                    <p:cTn id="1005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52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53" fill="hold">
                <p:stCondLst>
                  <p:cond delay="160"/>
                </p:stCondLst>
                <p:childTnLst>
                  <p:par>
                    <p:cTn id="1005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53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Standard Page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&lt;head&gt;: meta, canonical, OG tags, inline critical CSS, design system link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&lt;nav class='site-nav'&gt;: desktop dropdowns, language switcher (EN/FR/SW)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&lt;div class='nav-mobile'&gt;: accordion mobile menu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&lt;main&gt;: page-hero + content sections with Meridian components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&lt;footer class='site-footer'&gt;: four-column grid, social links, copyright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&lt;div id='chat-widget'&gt;: assistant mount point (replaced by assistant.js)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54" fill="hold">
                <p:stCondLst>
                  <p:cond delay="0"/>
                </p:stCondLst>
                <p:childTnLst>
                  <p:par>
                    <p:cTn id="1005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54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55" fill="hold">
                <p:stCondLst>
                  <p:cond delay="80"/>
                </p:stCondLst>
                <p:childTnLst>
                  <p:par>
                    <p:cTn id="1005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55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Standard Script Load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solidFill>
            <a:srgbClr val="F6F5F1"/>
          </a:solidFill>
          <a:ln>
            <a:solidFill>
              <a:srgbClr val="D8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63500" cy="475488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i18n-content.js → i18n.js → site.js → flexsearch.bundle.min.js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→ assistant-kb.js → assistant.js → pwa.js → flagship-motion.js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Homepage (index.html) replaces flagship pair with: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theme.css + motion.js, adds lazy hero-3d.bundle.js via IntersectionObserver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ll dur="500"/>
  </p:transition>
  <p:timing>
    <p:tnLst>
      <p:par>
        <p:cTn id="1" dur="indefinite" restart="never" nodeType="tmRoot">
          <p:childTnLst>
            <p:par>
              <p:cTn id="56" fill="hold">
                <p:stCondLst>
                  <p:cond delay="0"/>
                </p:stCondLst>
                <p:childTnLst>
                  <p:par>
                    <p:cTn id="1005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56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57" fill="hold">
                <p:stCondLst>
                  <p:cond delay="80"/>
                </p:stCondLst>
                <p:childTnLst>
                  <p:par>
                    <p:cTn id="1005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57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HTML Page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Deep dive — all 29 root HTML pages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58" fill="hold">
                <p:stCondLst>
                  <p:cond delay="0"/>
                </p:stCondLst>
                <p:childTnLst>
                  <p:par>
                    <p:cTn id="1005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58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59" fill="hold">
                <p:stCondLst>
                  <p:cond delay="80"/>
                </p:stCondLst>
                <p:childTnLst>
                  <p:par>
                    <p:cTn id="1005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59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60" fill="hold">
                <p:stCondLst>
                  <p:cond delay="160"/>
                </p:stCondLst>
                <p:childTnLst>
                  <p:par>
                    <p:cTn id="1006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60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404.html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Branded not-found page with navigation back to key sections.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~173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pwa.js, flagship-motion.js, assistant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.error-page — 404 message and helpful 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No i18n-content.js or site.js — minimal script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61" fill="hold">
                <p:stCondLst>
                  <p:cond delay="0"/>
                </p:stCondLst>
                <p:childTnLst>
                  <p:par>
                    <p:cTn id="1006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61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62" fill="hold">
                <p:stCondLst>
                  <p:cond delay="80"/>
                </p:stCondLst>
                <p:childTnLst>
                  <p:par>
                    <p:cTn id="1006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62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63" fill="hold">
                <p:stCondLst>
                  <p:cond delay="160"/>
                </p:stCondLst>
                <p:childTnLst>
                  <p:par>
                    <p:cTn id="1006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63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64" fill="hold">
                <p:stCondLst>
                  <p:cond delay="240"/>
                </p:stCondLst>
                <p:childTnLst>
                  <p:par>
                    <p:cTn id="1006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64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65" fill="hold">
                <p:stCondLst>
                  <p:cond delay="320"/>
                </p:stCondLst>
                <p:childTnLst>
                  <p:par>
                    <p:cTn id="1006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65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66" fill="hold">
                <p:stCondLst>
                  <p:cond delay="400"/>
                </p:stCondLst>
                <p:childTnLst>
                  <p:par>
                    <p:cTn id="1006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66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67" fill="hold">
                <p:stCondLst>
                  <p:cond delay="480"/>
                </p:stCondLst>
                <p:childTnLst>
                  <p:par>
                    <p:cTn id="1006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67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68" fill="hold">
                <p:stCondLst>
                  <p:cond delay="560"/>
                </p:stCondLst>
                <p:childTnLst>
                  <p:par>
                    <p:cTn id="1006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68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about.html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Company overview: founding story, values, subsidiary introduction. Meridian reference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~585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stack + flagship-motion.js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.page-hero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#our-story-embed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.fs-split sections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.values-grid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124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0507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First flagship-migrated page; template for Meridian rollouts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69" fill="hold">
                <p:stCondLst>
                  <p:cond delay="0"/>
                </p:stCondLst>
                <p:childTnLst>
                  <p:par>
                    <p:cTn id="1006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69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70" fill="hold">
                <p:stCondLst>
                  <p:cond delay="80"/>
                </p:stCondLst>
                <p:childTnLst>
                  <p:par>
                    <p:cTn id="1007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70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71" fill="hold">
                <p:stCondLst>
                  <p:cond delay="160"/>
                </p:stCondLst>
                <p:childTnLst>
                  <p:par>
                    <p:cTn id="1007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71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72" fill="hold">
                <p:stCondLst>
                  <p:cond delay="240"/>
                </p:stCondLst>
                <p:childTnLst>
                  <p:par>
                    <p:cTn id="1007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72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73" fill="hold">
                <p:stCondLst>
                  <p:cond delay="320"/>
                </p:stCondLst>
                <p:childTnLst>
                  <p:par>
                    <p:cTn id="1007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73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74" fill="hold">
                <p:stCondLst>
                  <p:cond delay="400"/>
                </p:stCondLst>
                <p:childTnLst>
                  <p:par>
                    <p:cTn id="1007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74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75" fill="hold">
                <p:stCondLst>
                  <p:cond delay="480"/>
                </p:stCondLst>
                <p:childTnLst>
                  <p:par>
                    <p:cTn id="1007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75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76" fill="hold">
                <p:stCondLst>
                  <p:cond delay="560"/>
                </p:stCondLst>
                <p:childTnLst>
                  <p:par>
                    <p:cTn id="1007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76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77" fill="hold">
                <p:stCondLst>
                  <p:cond delay="640"/>
                </p:stCondLst>
                <p:childTnLst>
                  <p:par>
                    <p:cTn id="1007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77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78" fill="hold">
                <p:stCondLst>
                  <p:cond delay="720"/>
                </p:stCondLst>
                <p:childTnLst>
                  <p:par>
                    <p:cTn id="1007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78" dur="350" fill="hold"/>
                            <p:tgtEl>
                              <p:spTgt spid="1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79" fill="hold">
                <p:stCondLst>
                  <p:cond delay="800"/>
                </p:stCondLst>
                <p:childTnLst>
                  <p:par>
                    <p:cTn id="1007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79" dur="350" fill="hold"/>
                            <p:tgtEl>
                              <p:spTgt spid="1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africa-network.html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Interactive operations map of East &amp; Central Africa with Leaflet satellite map.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~571 lines  ·  CSS: flagship.css, assistant.css, leaflet.css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leaflet.js, data_countries_africa.js, africa-network-map.js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.page-hero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#lake-africa-map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.country-grid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.map-legend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124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0507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Leaflet loaded synchronously; requires network for tiles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80" fill="hold">
                <p:stCondLst>
                  <p:cond delay="0"/>
                </p:stCondLst>
                <p:childTnLst>
                  <p:par>
                    <p:cTn id="1008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80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81" fill="hold">
                <p:stCondLst>
                  <p:cond delay="80"/>
                </p:stCondLst>
                <p:childTnLst>
                  <p:par>
                    <p:cTn id="1008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81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82" fill="hold">
                <p:stCondLst>
                  <p:cond delay="160"/>
                </p:stCondLst>
                <p:childTnLst>
                  <p:par>
                    <p:cTn id="1008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82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83" fill="hold">
                <p:stCondLst>
                  <p:cond delay="240"/>
                </p:stCondLst>
                <p:childTnLst>
                  <p:par>
                    <p:cTn id="1008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83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84" fill="hold">
                <p:stCondLst>
                  <p:cond delay="320"/>
                </p:stCondLst>
                <p:childTnLst>
                  <p:par>
                    <p:cTn id="1008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84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85" fill="hold">
                <p:stCondLst>
                  <p:cond delay="400"/>
                </p:stCondLst>
                <p:childTnLst>
                  <p:par>
                    <p:cTn id="1008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85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86" fill="hold">
                <p:stCondLst>
                  <p:cond delay="480"/>
                </p:stCondLst>
                <p:childTnLst>
                  <p:par>
                    <p:cTn id="1008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86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87" fill="hold">
                <p:stCondLst>
                  <p:cond delay="560"/>
                </p:stCondLst>
                <p:childTnLst>
                  <p:par>
                    <p:cTn id="1008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87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88" fill="hold">
                <p:stCondLst>
                  <p:cond delay="640"/>
                </p:stCondLst>
                <p:childTnLst>
                  <p:par>
                    <p:cTn id="1008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88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89" fill="hold">
                <p:stCondLst>
                  <p:cond delay="720"/>
                </p:stCondLst>
                <p:childTnLst>
                  <p:par>
                    <p:cTn id="1008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89" dur="350" fill="hold"/>
                            <p:tgtEl>
                              <p:spTgt spid="1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90" fill="hold">
                <p:stCondLst>
                  <p:cond delay="800"/>
                </p:stCondLst>
                <p:childTnLst>
                  <p:par>
                    <p:cTn id="1009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90" dur="350" fill="hold"/>
                            <p:tgtEl>
                              <p:spTgt spid="1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careers.html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Culture, benefits, CV submission form (mock).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~288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Build Your Career Across Africa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Drop Us Your CV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Migrated Meridian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91" fill="hold">
                <p:stCondLst>
                  <p:cond delay="0"/>
                </p:stCondLst>
                <p:childTnLst>
                  <p:par>
                    <p:cTn id="1009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91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92" fill="hold">
                <p:stCondLst>
                  <p:cond delay="80"/>
                </p:stCondLst>
                <p:childTnLst>
                  <p:par>
                    <p:cTn id="1009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92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93" fill="hold">
                <p:stCondLst>
                  <p:cond delay="160"/>
                </p:stCondLst>
                <p:childTnLst>
                  <p:par>
                    <p:cTn id="1009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93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94" fill="hold">
                <p:stCondLst>
                  <p:cond delay="240"/>
                </p:stCondLst>
                <p:childTnLst>
                  <p:par>
                    <p:cTn id="1009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94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95" fill="hold">
                <p:stCondLst>
                  <p:cond delay="320"/>
                </p:stCondLst>
                <p:childTnLst>
                  <p:par>
                    <p:cTn id="1009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95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96" fill="hold">
                <p:stCondLst>
                  <p:cond delay="400"/>
                </p:stCondLst>
                <p:childTnLst>
                  <p:par>
                    <p:cTn id="1009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96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97" fill="hold">
                <p:stCondLst>
                  <p:cond delay="480"/>
                </p:stCondLst>
                <p:childTnLst>
                  <p:par>
                    <p:cTn id="1009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97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98" fill="hold">
                <p:stCondLst>
                  <p:cond delay="560"/>
                </p:stCondLst>
                <p:childTnLst>
                  <p:par>
                    <p:cTn id="1009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98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99" fill="hold">
                <p:stCondLst>
                  <p:cond delay="640"/>
                </p:stCondLst>
                <p:childTnLst>
                  <p:par>
                    <p:cTn id="1009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099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concrete.html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GCCP ready-mix concrete and aggregate — Lugoba quarry, project portfolio.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~311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Building East Africa's Future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Our Plant in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Specialist Concrete Portfolio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Service, Organization, BreadcrumbList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124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GCCP division page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100" fill="hold">
                <p:stCondLst>
                  <p:cond delay="0"/>
                </p:stCondLst>
                <p:childTnLst>
                  <p:par>
                    <p:cTn id="1010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00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01" fill="hold">
                <p:stCondLst>
                  <p:cond delay="80"/>
                </p:stCondLst>
                <p:childTnLst>
                  <p:par>
                    <p:cTn id="1010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01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02" fill="hold">
                <p:stCondLst>
                  <p:cond delay="160"/>
                </p:stCondLst>
                <p:childTnLst>
                  <p:par>
                    <p:cTn id="1010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02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03" fill="hold">
                <p:stCondLst>
                  <p:cond delay="240"/>
                </p:stCondLst>
                <p:childTnLst>
                  <p:par>
                    <p:cTn id="1010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03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04" fill="hold">
                <p:stCondLst>
                  <p:cond delay="320"/>
                </p:stCondLst>
                <p:childTnLst>
                  <p:par>
                    <p:cTn id="1010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04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05" fill="hold">
                <p:stCondLst>
                  <p:cond delay="400"/>
                </p:stCondLst>
                <p:childTnLst>
                  <p:par>
                    <p:cTn id="1010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05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06" fill="hold">
                <p:stCondLst>
                  <p:cond delay="480"/>
                </p:stCondLst>
                <p:childTnLst>
                  <p:par>
                    <p:cTn id="1010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06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07" fill="hold">
                <p:stCondLst>
                  <p:cond delay="560"/>
                </p:stCondLst>
                <p:childTnLst>
                  <p:par>
                    <p:cTn id="1010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07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08" fill="hold">
                <p:stCondLst>
                  <p:cond delay="640"/>
                </p:stCondLst>
                <p:childTnLst>
                  <p:par>
                    <p:cTn id="1010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08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09" fill="hold">
                <p:stCondLst>
                  <p:cond delay="720"/>
                </p:stCondLst>
                <p:childTnLst>
                  <p:par>
                    <p:cTn id="1010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09" dur="350" fill="hold"/>
                            <p:tgtEl>
                              <p:spTgt spid="1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contact.html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HQ address, phone, email, regional offices, contact 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~287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We're Happy to Hear From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ContactPage, Organization, ContactPoint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Primary conversion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110" fill="hold">
                <p:stCondLst>
                  <p:cond delay="0"/>
                </p:stCondLst>
                <p:childTnLst>
                  <p:par>
                    <p:cTn id="1011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10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11" fill="hold">
                <p:stCondLst>
                  <p:cond delay="80"/>
                </p:stCondLst>
                <p:childTnLst>
                  <p:par>
                    <p:cTn id="1011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11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12" fill="hold">
                <p:stCondLst>
                  <p:cond delay="160"/>
                </p:stCondLst>
                <p:childTnLst>
                  <p:par>
                    <p:cTn id="1011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12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13" fill="hold">
                <p:stCondLst>
                  <p:cond delay="240"/>
                </p:stCondLst>
                <p:childTnLst>
                  <p:par>
                    <p:cTn id="1011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13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14" fill="hold">
                <p:stCondLst>
                  <p:cond delay="320"/>
                </p:stCondLst>
                <p:childTnLst>
                  <p:par>
                    <p:cTn id="1011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14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15" fill="hold">
                <p:stCondLst>
                  <p:cond delay="400"/>
                </p:stCondLst>
                <p:childTnLst>
                  <p:par>
                    <p:cTn id="1011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15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16" fill="hold">
                <p:stCondLst>
                  <p:cond delay="480"/>
                </p:stCondLst>
                <p:childTnLst>
                  <p:par>
                    <p:cTn id="1011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16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17" fill="hold">
                <p:stCondLst>
                  <p:cond delay="560"/>
                </p:stCondLst>
                <p:childTnLst>
                  <p:par>
                    <p:cTn id="1011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17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container-services.html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AFICD inland container depots — Tanzania, Zambia, Mozambique.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~277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The Inland Gateway to East African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Service, Organization, BreadcrumbList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AFICD &amp; ACFS division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118" fill="hold">
                <p:stCondLst>
                  <p:cond delay="0"/>
                </p:stCondLst>
                <p:childTnLst>
                  <p:par>
                    <p:cTn id="1011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18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19" fill="hold">
                <p:stCondLst>
                  <p:cond delay="80"/>
                </p:stCondLst>
                <p:childTnLst>
                  <p:par>
                    <p:cTn id="1011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19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20" fill="hold">
                <p:stCondLst>
                  <p:cond delay="160"/>
                </p:stCondLst>
                <p:childTnLst>
                  <p:par>
                    <p:cTn id="1012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20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21" fill="hold">
                <p:stCondLst>
                  <p:cond delay="240"/>
                </p:stCondLst>
                <p:childTnLst>
                  <p:par>
                    <p:cTn id="1012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21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22" fill="hold">
                <p:stCondLst>
                  <p:cond delay="320"/>
                </p:stCondLst>
                <p:childTnLst>
                  <p:par>
                    <p:cTn id="1012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22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23" fill="hold">
                <p:stCondLst>
                  <p:cond delay="400"/>
                </p:stCondLst>
                <p:childTnLst>
                  <p:par>
                    <p:cTn id="1012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23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24" fill="hold">
                <p:stCondLst>
                  <p:cond delay="480"/>
                </p:stCondLst>
                <p:childTnLst>
                  <p:par>
                    <p:cTn id="1012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24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25" fill="hold">
                <p:stCondLst>
                  <p:cond delay="560"/>
                </p:stCondLst>
                <p:childTnLst>
                  <p:par>
                    <p:cTn id="1012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25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csr.html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Corporate social responsibility programs and community investment.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~277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Responsible Growth. Lasting Impact.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How We Give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CSR programs and community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126" fill="hold">
                <p:stCondLst>
                  <p:cond delay="0"/>
                </p:stCondLst>
                <p:childTnLst>
                  <p:par>
                    <p:cTn id="1012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26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27" fill="hold">
                <p:stCondLst>
                  <p:cond delay="80"/>
                </p:stCondLst>
                <p:childTnLst>
                  <p:par>
                    <p:cTn id="1012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27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28" fill="hold">
                <p:stCondLst>
                  <p:cond delay="160"/>
                </p:stCondLst>
                <p:childTnLst>
                  <p:par>
                    <p:cTn id="1012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28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29" fill="hold">
                <p:stCondLst>
                  <p:cond delay="240"/>
                </p:stCondLst>
                <p:childTnLst>
                  <p:par>
                    <p:cTn id="1012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29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30" fill="hold">
                <p:stCondLst>
                  <p:cond delay="320"/>
                </p:stCondLst>
                <p:childTnLst>
                  <p:par>
                    <p:cTn id="1013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30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31" fill="hold">
                <p:stCondLst>
                  <p:cond delay="400"/>
                </p:stCondLst>
                <p:childTnLst>
                  <p:par>
                    <p:cTn id="1013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31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32" fill="hold">
                <p:stCondLst>
                  <p:cond delay="480"/>
                </p:stCondLst>
                <p:childTnLst>
                  <p:par>
                    <p:cTn id="1013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32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33" fill="hold">
                <p:stCondLst>
                  <p:cond delay="560"/>
                </p:stCondLst>
                <p:childTnLst>
                  <p:par>
                    <p:cTn id="1013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33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34" fill="hold">
                <p:stCondLst>
                  <p:cond delay="640"/>
                </p:stCondLst>
                <p:childTnLst>
                  <p:par>
                    <p:cTn id="1013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34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dashboard.html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Mock client portal UI (sign-in, dashboard preview). Demo 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~337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.auth-panel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.dashboard-preview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None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robots.txt Disallow; not in sitemap or assistant KB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135" fill="hold">
                <p:stCondLst>
                  <p:cond delay="0"/>
                </p:stCondLst>
                <p:childTnLst>
                  <p:par>
                    <p:cTn id="1013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35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36" fill="hold">
                <p:stCondLst>
                  <p:cond delay="80"/>
                </p:stCondLst>
                <p:childTnLst>
                  <p:par>
                    <p:cTn id="1013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36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37" fill="hold">
                <p:stCondLst>
                  <p:cond delay="160"/>
                </p:stCondLst>
                <p:childTnLst>
                  <p:par>
                    <p:cTn id="1013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37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38" fill="hold">
                <p:stCondLst>
                  <p:cond delay="240"/>
                </p:stCondLst>
                <p:childTnLst>
                  <p:par>
                    <p:cTn id="1013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38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39" fill="hold">
                <p:stCondLst>
                  <p:cond delay="320"/>
                </p:stCondLst>
                <p:childTnLst>
                  <p:par>
                    <p:cTn id="1013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39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40" fill="hold">
                <p:stCondLst>
                  <p:cond delay="400"/>
                </p:stCondLst>
                <p:childTnLst>
                  <p:par>
                    <p:cTn id="1014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40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41" fill="hold">
                <p:stCondLst>
                  <p:cond delay="480"/>
                </p:stCondLst>
                <p:childTnLst>
                  <p:par>
                    <p:cTn id="1014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41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42" fill="hold">
                <p:stCondLst>
                  <p:cond delay="560"/>
                </p:stCondLst>
                <p:childTnLst>
                  <p:par>
                    <p:cTn id="1014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42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43" fill="hold">
                <p:stCondLst>
                  <p:cond delay="640"/>
                </p:stCondLst>
                <p:childTnLst>
                  <p:par>
                    <p:cTn id="1014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43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fleet.html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700+ truck fleet specifications and capabilities.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~291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Purpose-Built for Every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Lake Trans fleet showcase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144" fill="hold">
                <p:stCondLst>
                  <p:cond delay="0"/>
                </p:stCondLst>
                <p:childTnLst>
                  <p:par>
                    <p:cTn id="1014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44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45" fill="hold">
                <p:stCondLst>
                  <p:cond delay="80"/>
                </p:stCondLst>
                <p:childTnLst>
                  <p:par>
                    <p:cTn id="1014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45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46" fill="hold">
                <p:stCondLst>
                  <p:cond delay="160"/>
                </p:stCondLst>
                <p:childTnLst>
                  <p:par>
                    <p:cTn id="1014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46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47" fill="hold">
                <p:stCondLst>
                  <p:cond delay="240"/>
                </p:stCondLst>
                <p:childTnLst>
                  <p:par>
                    <p:cTn id="1014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47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48" fill="hold">
                <p:stCondLst>
                  <p:cond delay="320"/>
                </p:stCondLst>
                <p:childTnLst>
                  <p:par>
                    <p:cTn id="1014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48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49" fill="hold">
                <p:stCondLst>
                  <p:cond delay="400"/>
                </p:stCondLst>
                <p:childTnLst>
                  <p:par>
                    <p:cTn id="1014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49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50" fill="hold">
                <p:stCondLst>
                  <p:cond delay="480"/>
                </p:stCondLst>
                <p:childTnLst>
                  <p:par>
                    <p:cTn id="1015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50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51" fill="hold">
                <p:stCondLst>
                  <p:cond delay="560"/>
                </p:stCondLst>
                <p:childTnLst>
                  <p:par>
                    <p:cTn id="1015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51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fuel.html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Lake Oil petroleum distribution — 85+ stations, bulk supply.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~284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Keeping Africa Moving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Our Competitive 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Service, Organization, BreadcrumbList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Flagship petroleum division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152" fill="hold">
                <p:stCondLst>
                  <p:cond delay="0"/>
                </p:stCondLst>
                <p:childTnLst>
                  <p:par>
                    <p:cTn id="1015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52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53" fill="hold">
                <p:stCondLst>
                  <p:cond delay="80"/>
                </p:stCondLst>
                <p:childTnLst>
                  <p:par>
                    <p:cTn id="1015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53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54" fill="hold">
                <p:stCondLst>
                  <p:cond delay="160"/>
                </p:stCondLst>
                <p:childTnLst>
                  <p:par>
                    <p:cTn id="1015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54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55" fill="hold">
                <p:stCondLst>
                  <p:cond delay="240"/>
                </p:stCondLst>
                <p:childTnLst>
                  <p:par>
                    <p:cTn id="1015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55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56" fill="hold">
                <p:stCondLst>
                  <p:cond delay="320"/>
                </p:stCondLst>
                <p:childTnLst>
                  <p:par>
                    <p:cTn id="1015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56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57" fill="hold">
                <p:stCondLst>
                  <p:cond delay="400"/>
                </p:stCondLst>
                <p:childTnLst>
                  <p:par>
                    <p:cTn id="1015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57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58" fill="hold">
                <p:stCondLst>
                  <p:cond delay="480"/>
                </p:stCondLst>
                <p:childTnLst>
                  <p:par>
                    <p:cTn id="1015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58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59" fill="hold">
                <p:stCondLst>
                  <p:cond delay="560"/>
                </p:stCondLst>
                <p:childTnLst>
                  <p:par>
                    <p:cTn id="1015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59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60" fill="hold">
                <p:stCondLst>
                  <p:cond delay="640"/>
                </p:stCondLst>
                <p:childTnLst>
                  <p:par>
                    <p:cTn id="1016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60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gallery.html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Masonry photo gallery with lightbox from operations and events.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~442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Lake Group in 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Largest interior page by line 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161" fill="hold">
                <p:stCondLst>
                  <p:cond delay="0"/>
                </p:stCondLst>
                <p:childTnLst>
                  <p:par>
                    <p:cTn id="1016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61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62" fill="hold">
                <p:stCondLst>
                  <p:cond delay="80"/>
                </p:stCondLst>
                <p:childTnLst>
                  <p:par>
                    <p:cTn id="1016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62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63" fill="hold">
                <p:stCondLst>
                  <p:cond delay="160"/>
                </p:stCondLst>
                <p:childTnLst>
                  <p:par>
                    <p:cTn id="1016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63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64" fill="hold">
                <p:stCondLst>
                  <p:cond delay="240"/>
                </p:stCondLst>
                <p:childTnLst>
                  <p:par>
                    <p:cTn id="1016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64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65" fill="hold">
                <p:stCondLst>
                  <p:cond delay="320"/>
                </p:stCondLst>
                <p:childTnLst>
                  <p:par>
                    <p:cTn id="1016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65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66" fill="hold">
                <p:stCondLst>
                  <p:cond delay="400"/>
                </p:stCondLst>
                <p:childTnLst>
                  <p:par>
                    <p:cTn id="1016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66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67" fill="hold">
                <p:stCondLst>
                  <p:cond delay="480"/>
                </p:stCondLst>
                <p:childTnLst>
                  <p:par>
                    <p:cTn id="1016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67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68" fill="hold">
                <p:stCondLst>
                  <p:cond delay="560"/>
                </p:stCondLst>
                <p:childTnLst>
                  <p:par>
                    <p:cTn id="1016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68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history.html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Timeline from 2006 founding to present pan-African conglomerate.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~285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Two Decades of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Be Part of the Next 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Corporate timeline narrative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169" fill="hold">
                <p:stCondLst>
                  <p:cond delay="0"/>
                </p:stCondLst>
                <p:childTnLst>
                  <p:par>
                    <p:cTn id="1016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69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70" fill="hold">
                <p:stCondLst>
                  <p:cond delay="80"/>
                </p:stCondLst>
                <p:childTnLst>
                  <p:par>
                    <p:cTn id="1017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70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71" fill="hold">
                <p:stCondLst>
                  <p:cond delay="160"/>
                </p:stCondLst>
                <p:childTnLst>
                  <p:par>
                    <p:cTn id="1017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71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72" fill="hold">
                <p:stCondLst>
                  <p:cond delay="240"/>
                </p:stCondLst>
                <p:childTnLst>
                  <p:par>
                    <p:cTn id="1017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72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73" fill="hold">
                <p:stCondLst>
                  <p:cond delay="320"/>
                </p:stCondLst>
                <p:childTnLst>
                  <p:par>
                    <p:cTn id="1017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73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74" fill="hold">
                <p:stCondLst>
                  <p:cond delay="400"/>
                </p:stCondLst>
                <p:childTnLst>
                  <p:par>
                    <p:cTn id="1017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74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75" fill="hold">
                <p:stCondLst>
                  <p:cond delay="480"/>
                </p:stCondLst>
                <p:childTnLst>
                  <p:par>
                    <p:cTn id="1017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75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76" fill="hold">
                <p:stCondLst>
                  <p:cond delay="560"/>
                </p:stCondLst>
                <p:childTnLst>
                  <p:par>
                    <p:cTn id="1017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76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77" fill="hold">
                <p:stCondLst>
                  <p:cond delay="640"/>
                </p:stCondLst>
                <p:childTnLst>
                  <p:par>
                    <p:cTn id="1017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77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index.html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Corporate homepage — 3D globe, divisions, founder, stats, CTAs.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~2931 lines  ·  CSS: theme.css,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i18n stack, lazy hero-3d.bundle.js, motion.js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#fuel-experience / .experience-3d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.hero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.stats-grid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.divisions-grid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124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Organization, Person, PostalAddress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0507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Only page on theme.css; lazy-loads 3D bundle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178" fill="hold">
                <p:stCondLst>
                  <p:cond delay="0"/>
                </p:stCondLst>
                <p:childTnLst>
                  <p:par>
                    <p:cTn id="1017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78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79" fill="hold">
                <p:stCondLst>
                  <p:cond delay="80"/>
                </p:stCondLst>
                <p:childTnLst>
                  <p:par>
                    <p:cTn id="1017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79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80" fill="hold">
                <p:stCondLst>
                  <p:cond delay="160"/>
                </p:stCondLst>
                <p:childTnLst>
                  <p:par>
                    <p:cTn id="1018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80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81" fill="hold">
                <p:stCondLst>
                  <p:cond delay="240"/>
                </p:stCondLst>
                <p:childTnLst>
                  <p:par>
                    <p:cTn id="1018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81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82" fill="hold">
                <p:stCondLst>
                  <p:cond delay="320"/>
                </p:stCondLst>
                <p:childTnLst>
                  <p:par>
                    <p:cTn id="1018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82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83" fill="hold">
                <p:stCondLst>
                  <p:cond delay="400"/>
                </p:stCondLst>
                <p:childTnLst>
                  <p:par>
                    <p:cTn id="1018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83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84" fill="hold">
                <p:stCondLst>
                  <p:cond delay="480"/>
                </p:stCondLst>
                <p:childTnLst>
                  <p:par>
                    <p:cTn id="1018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84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85" fill="hold">
                <p:stCondLst>
                  <p:cond delay="560"/>
                </p:stCondLst>
                <p:childTnLst>
                  <p:par>
                    <p:cTn id="1018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85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86" fill="hold">
                <p:stCondLst>
                  <p:cond delay="640"/>
                </p:stCondLst>
                <p:childTnLst>
                  <p:par>
                    <p:cTn id="1018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86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87" fill="hold">
                <p:stCondLst>
                  <p:cond delay="720"/>
                </p:stCondLst>
                <p:childTnLst>
                  <p:par>
                    <p:cTn id="1018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87" dur="350" fill="hold"/>
                            <p:tgtEl>
                              <p:spTgt spid="1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88" fill="hold">
                <p:stCondLst>
                  <p:cond delay="800"/>
                </p:stCondLst>
                <p:childTnLst>
                  <p:par>
                    <p:cTn id="1018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88" dur="350" fill="hold"/>
                            <p:tgtEl>
                              <p:spTgt spid="1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investors.html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Financial highlights, governance, currency-convertible figures.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~269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A Track Record of Vertical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What Drives Our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initCurrency() for FX converter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189" fill="hold">
                <p:stCondLst>
                  <p:cond delay="0"/>
                </p:stCondLst>
                <p:childTnLst>
                  <p:par>
                    <p:cTn id="1018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89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90" fill="hold">
                <p:stCondLst>
                  <p:cond delay="80"/>
                </p:stCondLst>
                <p:childTnLst>
                  <p:par>
                    <p:cTn id="1019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90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91" fill="hold">
                <p:stCondLst>
                  <p:cond delay="160"/>
                </p:stCondLst>
                <p:childTnLst>
                  <p:par>
                    <p:cTn id="1019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91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92" fill="hold">
                <p:stCondLst>
                  <p:cond delay="240"/>
                </p:stCondLst>
                <p:childTnLst>
                  <p:par>
                    <p:cTn id="1019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92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93" fill="hold">
                <p:stCondLst>
                  <p:cond delay="320"/>
                </p:stCondLst>
                <p:childTnLst>
                  <p:par>
                    <p:cTn id="1019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93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94" fill="hold">
                <p:stCondLst>
                  <p:cond delay="400"/>
                </p:stCondLst>
                <p:childTnLst>
                  <p:par>
                    <p:cTn id="1019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94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95" fill="hold">
                <p:stCondLst>
                  <p:cond delay="480"/>
                </p:stCondLst>
                <p:childTnLst>
                  <p:par>
                    <p:cTn id="1019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95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96" fill="hold">
                <p:stCondLst>
                  <p:cond delay="560"/>
                </p:stCondLst>
                <p:childTnLst>
                  <p:par>
                    <p:cTn id="1019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96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97" fill="hold">
                <p:stCondLst>
                  <p:cond delay="640"/>
                </p:stCondLst>
                <p:childTnLst>
                  <p:par>
                    <p:cTn id="1019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97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leadership.html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Executive team, founder profile, subsidiary management.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~291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Guided by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Ally Edha Awadh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Group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Companies Under Lake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124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0507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Founder and executive profiles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198" fill="hold">
                <p:stCondLst>
                  <p:cond delay="0"/>
                </p:stCondLst>
                <p:childTnLst>
                  <p:par>
                    <p:cTn id="1019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98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199" fill="hold">
                <p:stCondLst>
                  <p:cond delay="80"/>
                </p:stCondLst>
                <p:childTnLst>
                  <p:par>
                    <p:cTn id="1019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199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00" fill="hold">
                <p:stCondLst>
                  <p:cond delay="160"/>
                </p:stCondLst>
                <p:childTnLst>
                  <p:par>
                    <p:cTn id="1020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00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01" fill="hold">
                <p:stCondLst>
                  <p:cond delay="240"/>
                </p:stCondLst>
                <p:childTnLst>
                  <p:par>
                    <p:cTn id="1020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01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02" fill="hold">
                <p:stCondLst>
                  <p:cond delay="320"/>
                </p:stCondLst>
                <p:childTnLst>
                  <p:par>
                    <p:cTn id="1020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02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03" fill="hold">
                <p:stCondLst>
                  <p:cond delay="400"/>
                </p:stCondLst>
                <p:childTnLst>
                  <p:par>
                    <p:cTn id="1020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03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04" fill="hold">
                <p:stCondLst>
                  <p:cond delay="480"/>
                </p:stCondLst>
                <p:childTnLst>
                  <p:par>
                    <p:cTn id="1020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04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05" fill="hold">
                <p:stCondLst>
                  <p:cond delay="560"/>
                </p:stCondLst>
                <p:childTnLst>
                  <p:par>
                    <p:cTn id="1020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05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06" fill="hold">
                <p:stCondLst>
                  <p:cond delay="640"/>
                </p:stCondLst>
                <p:childTnLst>
                  <p:par>
                    <p:cTn id="1020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06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07" fill="hold">
                <p:stCondLst>
                  <p:cond delay="720"/>
                </p:stCondLst>
                <p:childTnLst>
                  <p:par>
                    <p:cTn id="1020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07" dur="350" fill="hold"/>
                            <p:tgtEl>
                              <p:spTgt spid="1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08" fill="hold">
                <p:stCondLst>
                  <p:cond delay="800"/>
                </p:stCondLst>
                <p:childTnLst>
                  <p:par>
                    <p:cTn id="1020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08" dur="350" fill="hold"/>
                            <p:tgtEl>
                              <p:spTgt spid="1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logistics.html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Lake Trans bulk liquid and dry cargo haulage.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~301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The Backbone of East Africa's Supply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Purpose-Built for Africa's Roads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Service, Organization, BreadcrumbList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Lake Trans division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209" fill="hold">
                <p:stCondLst>
                  <p:cond delay="0"/>
                </p:stCondLst>
                <p:childTnLst>
                  <p:par>
                    <p:cTn id="1020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09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10" fill="hold">
                <p:stCondLst>
                  <p:cond delay="80"/>
                </p:stCondLst>
                <p:childTnLst>
                  <p:par>
                    <p:cTn id="1021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10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11" fill="hold">
                <p:stCondLst>
                  <p:cond delay="160"/>
                </p:stCondLst>
                <p:childTnLst>
                  <p:par>
                    <p:cTn id="1021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11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12" fill="hold">
                <p:stCondLst>
                  <p:cond delay="240"/>
                </p:stCondLst>
                <p:childTnLst>
                  <p:par>
                    <p:cTn id="1021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12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13" fill="hold">
                <p:stCondLst>
                  <p:cond delay="320"/>
                </p:stCondLst>
                <p:childTnLst>
                  <p:par>
                    <p:cTn id="1021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13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14" fill="hold">
                <p:stCondLst>
                  <p:cond delay="400"/>
                </p:stCondLst>
                <p:childTnLst>
                  <p:par>
                    <p:cTn id="1021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14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15" fill="hold">
                <p:stCondLst>
                  <p:cond delay="480"/>
                </p:stCondLst>
                <p:childTnLst>
                  <p:par>
                    <p:cTn id="1021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15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16" fill="hold">
                <p:stCondLst>
                  <p:cond delay="560"/>
                </p:stCondLst>
                <p:childTnLst>
                  <p:par>
                    <p:cTn id="1021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16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17" fill="hold">
                <p:stCondLst>
                  <p:cond delay="640"/>
                </p:stCondLst>
                <p:childTnLst>
                  <p:par>
                    <p:cTn id="1021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17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lpg.html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Lake Gas LPG — cylinder sizes, bottling plants, clean cooking access.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~290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Clean Energy for Every Kitchen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Lake Gas Across Africa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Service, Organization, BreadcrumbList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Lake Gas division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218" fill="hold">
                <p:stCondLst>
                  <p:cond delay="0"/>
                </p:stCondLst>
                <p:childTnLst>
                  <p:par>
                    <p:cTn id="1021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18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19" fill="hold">
                <p:stCondLst>
                  <p:cond delay="80"/>
                </p:stCondLst>
                <p:childTnLst>
                  <p:par>
                    <p:cTn id="1021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19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20" fill="hold">
                <p:stCondLst>
                  <p:cond delay="160"/>
                </p:stCondLst>
                <p:childTnLst>
                  <p:par>
                    <p:cTn id="1022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20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21" fill="hold">
                <p:stCondLst>
                  <p:cond delay="240"/>
                </p:stCondLst>
                <p:childTnLst>
                  <p:par>
                    <p:cTn id="1022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21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22" fill="hold">
                <p:stCondLst>
                  <p:cond delay="320"/>
                </p:stCondLst>
                <p:childTnLst>
                  <p:par>
                    <p:cTn id="1022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22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23" fill="hold">
                <p:stCondLst>
                  <p:cond delay="400"/>
                </p:stCondLst>
                <p:childTnLst>
                  <p:par>
                    <p:cTn id="1022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23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24" fill="hold">
                <p:stCondLst>
                  <p:cond delay="480"/>
                </p:stCondLst>
                <p:childTnLst>
                  <p:par>
                    <p:cTn id="1022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24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25" fill="hold">
                <p:stCondLst>
                  <p:cond delay="560"/>
                </p:stCondLst>
                <p:childTnLst>
                  <p:par>
                    <p:cTn id="1022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25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26" fill="hold">
                <p:stCondLst>
                  <p:cond delay="640"/>
                </p:stCondLst>
                <p:childTnLst>
                  <p:par>
                    <p:cTn id="1022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26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lubricants.html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Lake Lubes — greases, industrial and automotive lubricants.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~267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Engineered for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Service, Organization, BreadcrumbList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Lake Lubes division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227" fill="hold">
                <p:stCondLst>
                  <p:cond delay="0"/>
                </p:stCondLst>
                <p:childTnLst>
                  <p:par>
                    <p:cTn id="1022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27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28" fill="hold">
                <p:stCondLst>
                  <p:cond delay="80"/>
                </p:stCondLst>
                <p:childTnLst>
                  <p:par>
                    <p:cTn id="1022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28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29" fill="hold">
                <p:stCondLst>
                  <p:cond delay="160"/>
                </p:stCondLst>
                <p:childTnLst>
                  <p:par>
                    <p:cTn id="1022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29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30" fill="hold">
                <p:stCondLst>
                  <p:cond delay="240"/>
                </p:stCondLst>
                <p:childTnLst>
                  <p:par>
                    <p:cTn id="1023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30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31" fill="hold">
                <p:stCondLst>
                  <p:cond delay="320"/>
                </p:stCondLst>
                <p:childTnLst>
                  <p:par>
                    <p:cTn id="1023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31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32" fill="hold">
                <p:stCondLst>
                  <p:cond delay="400"/>
                </p:stCondLst>
                <p:childTnLst>
                  <p:par>
                    <p:cTn id="1023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32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33" fill="hold">
                <p:stCondLst>
                  <p:cond delay="480"/>
                </p:stCondLst>
                <p:childTnLst>
                  <p:par>
                    <p:cTn id="1023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33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34" fill="hold">
                <p:stCondLst>
                  <p:cond delay="560"/>
                </p:stCondLst>
                <p:childTnLst>
                  <p:par>
                    <p:cTn id="1023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34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media-center.html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Press releases and media kit downloads.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~272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Latest Announcements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Press-ready assets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235" fill="hold">
                <p:stCondLst>
                  <p:cond delay="0"/>
                </p:stCondLst>
                <p:childTnLst>
                  <p:par>
                    <p:cTn id="1023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35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36" fill="hold">
                <p:stCondLst>
                  <p:cond delay="80"/>
                </p:stCondLst>
                <p:childTnLst>
                  <p:par>
                    <p:cTn id="1023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36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37" fill="hold">
                <p:stCondLst>
                  <p:cond delay="160"/>
                </p:stCondLst>
                <p:childTnLst>
                  <p:par>
                    <p:cTn id="1023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37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38" fill="hold">
                <p:stCondLst>
                  <p:cond delay="240"/>
                </p:stCondLst>
                <p:childTnLst>
                  <p:par>
                    <p:cTn id="1023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38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39" fill="hold">
                <p:stCondLst>
                  <p:cond delay="320"/>
                </p:stCondLst>
                <p:childTnLst>
                  <p:par>
                    <p:cTn id="1023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39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40" fill="hold">
                <p:stCondLst>
                  <p:cond delay="400"/>
                </p:stCondLst>
                <p:childTnLst>
                  <p:par>
                    <p:cTn id="1024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40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41" fill="hold">
                <p:stCondLst>
                  <p:cond delay="480"/>
                </p:stCondLst>
                <p:childTnLst>
                  <p:par>
                    <p:cTn id="1024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41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42" fill="hold">
                <p:stCondLst>
                  <p:cond delay="560"/>
                </p:stCondLst>
                <p:childTnLst>
                  <p:par>
                    <p:cTn id="1024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42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news-article.html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Single article view driven by ?id= query parameter.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~243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+ news-data.js + news.js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#article-root — title, date, gallery, YouTube 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NewsArticle (dynamic)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Dynamic JSON-LD; redirects if invalid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243" fill="hold">
                <p:stCondLst>
                  <p:cond delay="0"/>
                </p:stCondLst>
                <p:childTnLst>
                  <p:par>
                    <p:cTn id="1024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43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44" fill="hold">
                <p:stCondLst>
                  <p:cond delay="80"/>
                </p:stCondLst>
                <p:childTnLst>
                  <p:par>
                    <p:cTn id="1024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44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45" fill="hold">
                <p:stCondLst>
                  <p:cond delay="160"/>
                </p:stCondLst>
                <p:childTnLst>
                  <p:par>
                    <p:cTn id="1024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45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46" fill="hold">
                <p:stCondLst>
                  <p:cond delay="240"/>
                </p:stCondLst>
                <p:childTnLst>
                  <p:par>
                    <p:cTn id="1024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46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47" fill="hold">
                <p:stCondLst>
                  <p:cond delay="320"/>
                </p:stCondLst>
                <p:childTnLst>
                  <p:par>
                    <p:cTn id="1024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47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48" fill="hold">
                <p:stCondLst>
                  <p:cond delay="400"/>
                </p:stCondLst>
                <p:childTnLst>
                  <p:par>
                    <p:cTn id="1024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48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49" fill="hold">
                <p:stCondLst>
                  <p:cond delay="480"/>
                </p:stCondLst>
                <p:childTnLst>
                  <p:par>
                    <p:cTn id="1024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49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50" fill="hold">
                <p:stCondLst>
                  <p:cond delay="560"/>
                </p:stCondLst>
                <p:childTnLst>
                  <p:par>
                    <p:cTn id="1025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50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news.html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News listing with search, category filter, country filter.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~300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+ news-data.js + news.js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.page-hero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.news-filters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#news-list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CollectionPage, BreadcrumbList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124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20 articles from LAKE_NEWS array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251" fill="hold">
                <p:stCondLst>
                  <p:cond delay="0"/>
                </p:stCondLst>
                <p:childTnLst>
                  <p:par>
                    <p:cTn id="1025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51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52" fill="hold">
                <p:stCondLst>
                  <p:cond delay="80"/>
                </p:stCondLst>
                <p:childTnLst>
                  <p:par>
                    <p:cTn id="1025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52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53" fill="hold">
                <p:stCondLst>
                  <p:cond delay="160"/>
                </p:stCondLst>
                <p:childTnLst>
                  <p:par>
                    <p:cTn id="1025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53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54" fill="hold">
                <p:stCondLst>
                  <p:cond delay="240"/>
                </p:stCondLst>
                <p:childTnLst>
                  <p:par>
                    <p:cTn id="1025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54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55" fill="hold">
                <p:stCondLst>
                  <p:cond delay="320"/>
                </p:stCondLst>
                <p:childTnLst>
                  <p:par>
                    <p:cTn id="1025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55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56" fill="hold">
                <p:stCondLst>
                  <p:cond delay="400"/>
                </p:stCondLst>
                <p:childTnLst>
                  <p:par>
                    <p:cTn id="1025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56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57" fill="hold">
                <p:stCondLst>
                  <p:cond delay="480"/>
                </p:stCondLst>
                <p:childTnLst>
                  <p:par>
                    <p:cTn id="1025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57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58" fill="hold">
                <p:stCondLst>
                  <p:cond delay="560"/>
                </p:stCondLst>
                <p:childTnLst>
                  <p:par>
                    <p:cTn id="1025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58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59" fill="hold">
                <p:stCondLst>
                  <p:cond delay="640"/>
                </p:stCondLst>
                <p:childTnLst>
                  <p:par>
                    <p:cTn id="1025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59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60" fill="hold">
                <p:stCondLst>
                  <p:cond delay="720"/>
                </p:stCondLst>
                <p:childTnLst>
                  <p:par>
                    <p:cTn id="1026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60" dur="350" fill="hold"/>
                            <p:tgtEl>
                              <p:spTgt spid="1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offline.html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PWA offline fallback when navigation fails without network.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~215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pwa.js, flagship-motion.js, assistant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.offline-shell — links to precached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Precached in sw.js; robots.txt Disallow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261" fill="hold">
                <p:stCondLst>
                  <p:cond delay="0"/>
                </p:stCondLst>
                <p:childTnLst>
                  <p:par>
                    <p:cTn id="1026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61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62" fill="hold">
                <p:stCondLst>
                  <p:cond delay="80"/>
                </p:stCondLst>
                <p:childTnLst>
                  <p:par>
                    <p:cTn id="1026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62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63" fill="hold">
                <p:stCondLst>
                  <p:cond delay="160"/>
                </p:stCondLst>
                <p:childTnLst>
                  <p:par>
                    <p:cTn id="1026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63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64" fill="hold">
                <p:stCondLst>
                  <p:cond delay="240"/>
                </p:stCondLst>
                <p:childTnLst>
                  <p:par>
                    <p:cTn id="1026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64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65" fill="hold">
                <p:stCondLst>
                  <p:cond delay="320"/>
                </p:stCondLst>
                <p:childTnLst>
                  <p:par>
                    <p:cTn id="1026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65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66" fill="hold">
                <p:stCondLst>
                  <p:cond delay="400"/>
                </p:stCondLst>
                <p:childTnLst>
                  <p:par>
                    <p:cTn id="1026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66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67" fill="hold">
                <p:stCondLst>
                  <p:cond delay="480"/>
                </p:stCondLst>
                <p:childTnLst>
                  <p:par>
                    <p:cTn id="1026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67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68" fill="hold">
                <p:stCondLst>
                  <p:cond delay="560"/>
                </p:stCondLst>
                <p:childTnLst>
                  <p:par>
                    <p:cTn id="1026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68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our-story.html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Cinematic brand story — eight auto-advancing scenes with photography.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~619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i18n (sync), pwa.js, flagship-motion.js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.ose-stage — scenes 1–8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.story-stats overlay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None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Not in main nav; keyboard/tap navigation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269" fill="hold">
                <p:stCondLst>
                  <p:cond delay="0"/>
                </p:stCondLst>
                <p:childTnLst>
                  <p:par>
                    <p:cTn id="1026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69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70" fill="hold">
                <p:stCondLst>
                  <p:cond delay="80"/>
                </p:stCondLst>
                <p:childTnLst>
                  <p:par>
                    <p:cTn id="1027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70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71" fill="hold">
                <p:stCondLst>
                  <p:cond delay="160"/>
                </p:stCondLst>
                <p:childTnLst>
                  <p:par>
                    <p:cTn id="1027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71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72" fill="hold">
                <p:stCondLst>
                  <p:cond delay="240"/>
                </p:stCondLst>
                <p:childTnLst>
                  <p:par>
                    <p:cTn id="1027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72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73" fill="hold">
                <p:stCondLst>
                  <p:cond delay="320"/>
                </p:stCondLst>
                <p:childTnLst>
                  <p:par>
                    <p:cTn id="1027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73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74" fill="hold">
                <p:stCondLst>
                  <p:cond delay="400"/>
                </p:stCondLst>
                <p:childTnLst>
                  <p:par>
                    <p:cTn id="1027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74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75" fill="hold">
                <p:stCondLst>
                  <p:cond delay="480"/>
                </p:stCondLst>
                <p:childTnLst>
                  <p:par>
                    <p:cTn id="1027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75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76" fill="hold">
                <p:stCondLst>
                  <p:cond delay="560"/>
                </p:stCondLst>
                <p:childTnLst>
                  <p:par>
                    <p:cTn id="1027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76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77" fill="hold">
                <p:stCondLst>
                  <p:cond delay="640"/>
                </p:stCondLst>
                <p:childTnLst>
                  <p:par>
                    <p:cTn id="1027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77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projects.html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Major infrastructure and industrial project case studies.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~249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Delivering East Africa's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Infrastructure case studies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278" fill="hold">
                <p:stCondLst>
                  <p:cond delay="0"/>
                </p:stCondLst>
                <p:childTnLst>
                  <p:par>
                    <p:cTn id="1027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78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79" fill="hold">
                <p:stCondLst>
                  <p:cond delay="80"/>
                </p:stCondLst>
                <p:childTnLst>
                  <p:par>
                    <p:cTn id="1027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79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80" fill="hold">
                <p:stCondLst>
                  <p:cond delay="160"/>
                </p:stCondLst>
                <p:childTnLst>
                  <p:par>
                    <p:cTn id="1028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80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81" fill="hold">
                <p:stCondLst>
                  <p:cond delay="240"/>
                </p:stCondLst>
                <p:childTnLst>
                  <p:par>
                    <p:cTn id="1028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81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82" fill="hold">
                <p:stCondLst>
                  <p:cond delay="320"/>
                </p:stCondLst>
                <p:childTnLst>
                  <p:par>
                    <p:cTn id="1028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82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83" fill="hold">
                <p:stCondLst>
                  <p:cond delay="400"/>
                </p:stCondLst>
                <p:childTnLst>
                  <p:par>
                    <p:cTn id="1028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83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84" fill="hold">
                <p:stCondLst>
                  <p:cond delay="480"/>
                </p:stCondLst>
                <p:childTnLst>
                  <p:par>
                    <p:cTn id="1028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84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85" fill="hold">
                <p:stCondLst>
                  <p:cond delay="560"/>
                </p:stCondLst>
                <p:childTnLst>
                  <p:par>
                    <p:cTn id="1028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85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services.html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Hub page linking all eight business sectors.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~375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One Integrated 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Ready to Work Together?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Division hub with 8 sector cards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286" fill="hold">
                <p:stCondLst>
                  <p:cond delay="0"/>
                </p:stCondLst>
                <p:childTnLst>
                  <p:par>
                    <p:cTn id="1028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86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87" fill="hold">
                <p:stCondLst>
                  <p:cond delay="80"/>
                </p:stCondLst>
                <p:childTnLst>
                  <p:par>
                    <p:cTn id="1028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87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88" fill="hold">
                <p:stCondLst>
                  <p:cond delay="160"/>
                </p:stCondLst>
                <p:childTnLst>
                  <p:par>
                    <p:cTn id="1028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88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89" fill="hold">
                <p:stCondLst>
                  <p:cond delay="240"/>
                </p:stCondLst>
                <p:childTnLst>
                  <p:par>
                    <p:cTn id="1028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89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90" fill="hold">
                <p:stCondLst>
                  <p:cond delay="320"/>
                </p:stCondLst>
                <p:childTnLst>
                  <p:par>
                    <p:cTn id="1029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90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91" fill="hold">
                <p:stCondLst>
                  <p:cond delay="400"/>
                </p:stCondLst>
                <p:childTnLst>
                  <p:par>
                    <p:cTn id="1029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91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92" fill="hold">
                <p:stCondLst>
                  <p:cond delay="480"/>
                </p:stCondLst>
                <p:childTnLst>
                  <p:par>
                    <p:cTn id="1029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92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93" fill="hold">
                <p:stCondLst>
                  <p:cond delay="560"/>
                </p:stCondLst>
                <p:childTnLst>
                  <p:par>
                    <p:cTn id="1029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93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94" fill="hold">
                <p:stCondLst>
                  <p:cond delay="640"/>
                </p:stCondLst>
                <p:childTnLst>
                  <p:par>
                    <p:cTn id="1029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94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station-locator.html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Lake Oil retail station finder across Tanzania.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~310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85+ Stations Across Tanzania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Station locator for Lake Oil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295" fill="hold">
                <p:stCondLst>
                  <p:cond delay="0"/>
                </p:stCondLst>
                <p:childTnLst>
                  <p:par>
                    <p:cTn id="1029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95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96" fill="hold">
                <p:stCondLst>
                  <p:cond delay="80"/>
                </p:stCondLst>
                <p:childTnLst>
                  <p:par>
                    <p:cTn id="1029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96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97" fill="hold">
                <p:stCondLst>
                  <p:cond delay="160"/>
                </p:stCondLst>
                <p:childTnLst>
                  <p:par>
                    <p:cTn id="1029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97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98" fill="hold">
                <p:stCondLst>
                  <p:cond delay="240"/>
                </p:stCondLst>
                <p:childTnLst>
                  <p:par>
                    <p:cTn id="1029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98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299" fill="hold">
                <p:stCondLst>
                  <p:cond delay="320"/>
                </p:stCondLst>
                <p:childTnLst>
                  <p:par>
                    <p:cTn id="1029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299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00" fill="hold">
                <p:stCondLst>
                  <p:cond delay="400"/>
                </p:stCondLst>
                <p:childTnLst>
                  <p:par>
                    <p:cTn id="1030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00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01" fill="hold">
                <p:stCondLst>
                  <p:cond delay="480"/>
                </p:stCondLst>
                <p:childTnLst>
                  <p:par>
                    <p:cTn id="1030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01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02" fill="hold">
                <p:stCondLst>
                  <p:cond delay="560"/>
                </p:stCondLst>
                <p:childTnLst>
                  <p:par>
                    <p:cTn id="1030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02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steel.html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Lake Steel HS-CR rebars — 100,000 MT/year rolling mill.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~295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First in Tanzania. Built to Last.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From Billets to Bars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Service, Organization, BreadcrumbList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First HS-CR mill in Tanzania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03" fill="hold">
                <p:stCondLst>
                  <p:cond delay="0"/>
                </p:stCondLst>
                <p:childTnLst>
                  <p:par>
                    <p:cTn id="1030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03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04" fill="hold">
                <p:stCondLst>
                  <p:cond delay="80"/>
                </p:stCondLst>
                <p:childTnLst>
                  <p:par>
                    <p:cTn id="1030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04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05" fill="hold">
                <p:stCondLst>
                  <p:cond delay="160"/>
                </p:stCondLst>
                <p:childTnLst>
                  <p:par>
                    <p:cTn id="1030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05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06" fill="hold">
                <p:stCondLst>
                  <p:cond delay="240"/>
                </p:stCondLst>
                <p:childTnLst>
                  <p:par>
                    <p:cTn id="1030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06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07" fill="hold">
                <p:stCondLst>
                  <p:cond delay="320"/>
                </p:stCondLst>
                <p:childTnLst>
                  <p:par>
                    <p:cTn id="1030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07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08" fill="hold">
                <p:stCondLst>
                  <p:cond delay="400"/>
                </p:stCondLst>
                <p:childTnLst>
                  <p:par>
                    <p:cTn id="1030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08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09" fill="hold">
                <p:stCondLst>
                  <p:cond delay="480"/>
                </p:stCondLst>
                <p:childTnLst>
                  <p:par>
                    <p:cTn id="1030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09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10" fill="hold">
                <p:stCondLst>
                  <p:cond delay="560"/>
                </p:stCondLst>
                <p:childTnLst>
                  <p:par>
                    <p:cTn id="1031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10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11" fill="hold">
                <p:stCondLst>
                  <p:cond delay="640"/>
                </p:stCondLst>
                <p:childTnLst>
                  <p:par>
                    <p:cTn id="1031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11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Page Reference — sustainability.html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A2340"/>
                </a:solidFill>
                <a:latin typeface="Calibri"/>
              </a:defRPr>
            </a:pPr>
            <a:r>
              <a:t>Environmental stewardship, LPG clean cooking, ESG metrics.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910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~251 lines  ·  CSS: flagship.css, assistant.css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5A6478"/>
                </a:solidFill>
                <a:latin typeface="Calibri"/>
              </a:defRPr>
            </a:pPr>
            <a:r>
              <a:t>JS: Standard deferred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9424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3EA8"/>
                </a:solidFill>
                <a:latin typeface="Calibri"/>
              </a:defRPr>
            </a:pPr>
            <a:r>
              <a:t>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Energy for Africa. Responsibly.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A2340"/>
                </a:solidFill>
                <a:latin typeface="Calibri"/>
              </a:defRPr>
            </a:pPr>
            <a:r>
              <a:t>  • Sustainability by the 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2724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Schema.org: BreadcrumbList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5A6478"/>
                </a:solidFill>
                <a:latin typeface="Calibri"/>
              </a:defRPr>
            </a:pPr>
            <a:r>
              <a:t>Note: ESG and environmental content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12" fill="hold">
                <p:stCondLst>
                  <p:cond delay="0"/>
                </p:stCondLst>
                <p:childTnLst>
                  <p:par>
                    <p:cTn id="1031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12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13" fill="hold">
                <p:stCondLst>
                  <p:cond delay="80"/>
                </p:stCondLst>
                <p:childTnLst>
                  <p:par>
                    <p:cTn id="1031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13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14" fill="hold">
                <p:stCondLst>
                  <p:cond delay="160"/>
                </p:stCondLst>
                <p:childTnLst>
                  <p:par>
                    <p:cTn id="1031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14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15" fill="hold">
                <p:stCondLst>
                  <p:cond delay="240"/>
                </p:stCondLst>
                <p:childTnLst>
                  <p:par>
                    <p:cTn id="1031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15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16" fill="hold">
                <p:stCondLst>
                  <p:cond delay="320"/>
                </p:stCondLst>
                <p:childTnLst>
                  <p:par>
                    <p:cTn id="1031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16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17" fill="hold">
                <p:stCondLst>
                  <p:cond delay="400"/>
                </p:stCondLst>
                <p:childTnLst>
                  <p:par>
                    <p:cTn id="1031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17" dur="350" fill="hold"/>
                            <p:tgtEl>
                              <p:spTgt spid="10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18" fill="hold">
                <p:stCondLst>
                  <p:cond delay="480"/>
                </p:stCondLst>
                <p:childTnLst>
                  <p:par>
                    <p:cTn id="1031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18" dur="350" fill="hold"/>
                            <p:tgtEl>
                              <p:spTgt spid="11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19" fill="hold">
                <p:stCondLst>
                  <p:cond delay="560"/>
                </p:stCondLst>
                <p:childTnLst>
                  <p:par>
                    <p:cTn id="1031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19" dur="350" fill="hold"/>
                            <p:tgtEl>
                              <p:spTgt spid="1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20" fill="hold">
                <p:stCondLst>
                  <p:cond delay="640"/>
                </p:stCondLst>
                <p:childTnLst>
                  <p:par>
                    <p:cTn id="1032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20" dur="350" fill="hold"/>
                            <p:tgtEl>
                              <p:spTgt spid="1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JavaScript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assets/*.js — behaviour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321" fill="hold">
                <p:stCondLst>
                  <p:cond delay="0"/>
                </p:stCondLst>
                <p:childTnLst>
                  <p:par>
                    <p:cTn id="1032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21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22" fill="hold">
                <p:stCondLst>
                  <p:cond delay="80"/>
                </p:stCondLst>
                <p:childTnLst>
                  <p:par>
                    <p:cTn id="1032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22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23" fill="hold">
                <p:stCondLst>
                  <p:cond delay="160"/>
                </p:stCondLst>
                <p:childTnLst>
                  <p:par>
                    <p:cTn id="1032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23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JavaScript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site.js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Shared behaviour: nav, reveal, counters, tabs, anchors, forms, 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i18n.js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LakeI18n — EN/FR/SW; data-i18n attributes; localStorage persistence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24" fill="hold">
                <p:stCondLst>
                  <p:cond delay="0"/>
                </p:stCondLst>
                <p:childTnLst>
                  <p:par>
                    <p:cTn id="1032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24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25" fill="hold">
                <p:stCondLst>
                  <p:cond delay="80"/>
                </p:stCondLst>
                <p:childTnLst>
                  <p:par>
                    <p:cTn id="1032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25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26" fill="hold">
                <p:stCondLst>
                  <p:cond delay="160"/>
                </p:stCondLst>
                <p:childTnLst>
                  <p:par>
                    <p:cTn id="1032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26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27" fill="hold">
                <p:stCondLst>
                  <p:cond delay="240"/>
                </p:stCondLst>
                <p:childTnLst>
                  <p:par>
                    <p:cTn id="1032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27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28" fill="hold">
                <p:stCondLst>
                  <p:cond delay="320"/>
                </p:stCondLst>
                <p:childTnLst>
                  <p:par>
                    <p:cTn id="1032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28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JavaScript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i18n-content.js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Build artifact: ~1,442 translation keys as window global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pwa.js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SW registration, update toast, SKIP_WAITING, no surprise reloads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29" fill="hold">
                <p:stCondLst>
                  <p:cond delay="0"/>
                </p:stCondLst>
                <p:childTnLst>
                  <p:par>
                    <p:cTn id="1032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29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30" fill="hold">
                <p:stCondLst>
                  <p:cond delay="80"/>
                </p:stCondLst>
                <p:childTnLst>
                  <p:par>
                    <p:cTn id="1033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30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31" fill="hold">
                <p:stCondLst>
                  <p:cond delay="160"/>
                </p:stCondLst>
                <p:childTnLst>
                  <p:par>
                    <p:cTn id="1033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31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32" fill="hold">
                <p:stCondLst>
                  <p:cond delay="240"/>
                </p:stCondLst>
                <p:childTnLst>
                  <p:par>
                    <p:cTn id="1033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32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33" fill="hold">
                <p:stCondLst>
                  <p:cond delay="320"/>
                </p:stCondLst>
                <p:childTnLst>
                  <p:par>
                    <p:cTn id="1033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33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JavaScript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motion.js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theme.css partner — .reveal, nav hide/show, card tilt (index only)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flagship-motion.js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flagship.css partner — .fx-* choreography, magnetic CTAs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34" fill="hold">
                <p:stCondLst>
                  <p:cond delay="0"/>
                </p:stCondLst>
                <p:childTnLst>
                  <p:par>
                    <p:cTn id="1033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34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35" fill="hold">
                <p:stCondLst>
                  <p:cond delay="80"/>
                </p:stCondLst>
                <p:childTnLst>
                  <p:par>
                    <p:cTn id="1033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35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36" fill="hold">
                <p:stCondLst>
                  <p:cond delay="160"/>
                </p:stCondLst>
                <p:childTnLst>
                  <p:par>
                    <p:cTn id="1033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36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37" fill="hold">
                <p:stCondLst>
                  <p:cond delay="240"/>
                </p:stCondLst>
                <p:childTnLst>
                  <p:par>
                    <p:cTn id="1033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37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38" fill="hold">
                <p:stCondLst>
                  <p:cond delay="320"/>
                </p:stCondLst>
                <p:childTnLst>
                  <p:par>
                    <p:cTn id="1033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38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JavaScript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hero-3d.js / .bundle.js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Three.js globe — 39s loop, 9 sites, 4 facility callouts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assistant.js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FlexSearch retrieval, IndexedDB, no hallucination — verbatim passages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39" fill="hold">
                <p:stCondLst>
                  <p:cond delay="0"/>
                </p:stCondLst>
                <p:childTnLst>
                  <p:par>
                    <p:cTn id="1033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39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40" fill="hold">
                <p:stCondLst>
                  <p:cond delay="80"/>
                </p:stCondLst>
                <p:childTnLst>
                  <p:par>
                    <p:cTn id="1034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40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41" fill="hold">
                <p:stCondLst>
                  <p:cond delay="160"/>
                </p:stCondLst>
                <p:childTnLst>
                  <p:par>
                    <p:cTn id="1034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41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42" fill="hold">
                <p:stCondLst>
                  <p:cond delay="240"/>
                </p:stCondLst>
                <p:childTnLst>
                  <p:par>
                    <p:cTn id="1034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42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43" fill="hold">
                <p:stCondLst>
                  <p:cond delay="320"/>
                </p:stCondLst>
                <p:childTnLst>
                  <p:par>
                    <p:cTn id="1034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43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JavaScript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assistant-kb.js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Build artifact: knowledge base from i18n + curated facts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news.js / news-data.js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20 articles, filters, YouTube embeds, dynamic article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44" fill="hold">
                <p:stCondLst>
                  <p:cond delay="0"/>
                </p:stCondLst>
                <p:childTnLst>
                  <p:par>
                    <p:cTn id="1034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44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45" fill="hold">
                <p:stCondLst>
                  <p:cond delay="80"/>
                </p:stCondLst>
                <p:childTnLst>
                  <p:par>
                    <p:cTn id="1034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45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46" fill="hold">
                <p:stCondLst>
                  <p:cond delay="160"/>
                </p:stCondLst>
                <p:childTnLst>
                  <p:par>
                    <p:cTn id="1034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46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47" fill="hold">
                <p:stCondLst>
                  <p:cond delay="240"/>
                </p:stCondLst>
                <p:childTnLst>
                  <p:par>
                    <p:cTn id="1034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47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48" fill="hold">
                <p:stCondLst>
                  <p:cond delay="320"/>
                </p:stCondLst>
                <p:childTnLst>
                  <p:par>
                    <p:cTn id="1034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48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JavaScript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africa-network-map.js: Leaflet map — 22 markers, pipelines, country flyTo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49" fill="hold">
                <p:stCondLst>
                  <p:cond delay="0"/>
                </p:stCondLst>
                <p:childTnLst>
                  <p:par>
                    <p:cTn id="1034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49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50" fill="hold">
                <p:stCondLst>
                  <p:cond delay="80"/>
                </p:stCondLst>
                <p:childTnLst>
                  <p:par>
                    <p:cTn id="1035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50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Vendor Libraries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463040"/>
                <a:gridCol w="1463040"/>
                <a:gridCol w="4389120"/>
              </a:tblGrid>
              <a:tr h="11887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File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License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Usage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vendor/three.module.min.js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r16x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hero-3d.js WebGL rendering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vendor/leaflet/leaflet.js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1.x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BSD-2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africa-network.html map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vendor/flexsearch/flexsearch.bundle.min.js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0.7.x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Apache-2.0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assistant.js search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351" fill="hold">
                <p:stCondLst>
                  <p:cond delay="0"/>
                </p:stCondLst>
                <p:childTnLst>
                  <p:par>
                    <p:cTn id="1035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51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52" fill="hold">
                <p:stCondLst>
                  <p:cond delay="80"/>
                </p:stCondLst>
                <p:childTnLst>
                  <p:par>
                    <p:cTn id="1035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52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CSS Design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theme.css vs flagship.css (Meridian)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353" fill="hold">
                <p:stCondLst>
                  <p:cond delay="0"/>
                </p:stCondLst>
                <p:childTnLst>
                  <p:par>
                    <p:cTn id="1035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53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54" fill="hold">
                <p:stCondLst>
                  <p:cond delay="80"/>
                </p:stCondLst>
                <p:childTnLst>
                  <p:par>
                    <p:cTn id="1035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54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55" fill="hold">
                <p:stCondLst>
                  <p:cond delay="160"/>
                </p:stCondLst>
                <p:childTnLst>
                  <p:par>
                    <p:cTn id="1035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55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Design System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67926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Aspect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theme.css (Legacy)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flagship.css (Meridian)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Used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index.html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28 interior pages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Design language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Blue/yellow corporate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Ink/paper editorial, Bebas display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Dark sections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.section-dark (navy)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.fs-on-dark / --ink system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Motion partner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motion.js (.reveal)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flagship-motion.js (.fx-*)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Typography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Inter +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Bebas Neue + Inter + Playfair quotes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Tokens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--blue, --yellow, --radius 4px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--ink, --paper, --gold, --sp-* scale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356" fill="hold">
                <p:stCondLst>
                  <p:cond delay="0"/>
                </p:stCondLst>
                <p:childTnLst>
                  <p:par>
                    <p:cTn id="1035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56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57" fill="hold">
                <p:stCondLst>
                  <p:cond delay="80"/>
                </p:stCondLst>
                <p:childTnLst>
                  <p:par>
                    <p:cTn id="1035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57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Motion Systems Compared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motion.js (index.html)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html.lg-motion gate class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.reveal, .reveal-left, .reveal-scale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Nav hide on scroll down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3D card tilt (~3°) on pointer:fine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flagship-motion.js (interior)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html.fs-motion gate class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.fx-rise, .fx-clip, .fx-mask, .fx-wipe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Scroll progress via [data-fx-scroll]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Magnetic CTA hover; [data-fs-count] counters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58" fill="hold">
                <p:stCondLst>
                  <p:cond delay="0"/>
                </p:stCondLst>
                <p:childTnLst>
                  <p:par>
                    <p:cTn id="1035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58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59" fill="hold">
                <p:stCondLst>
                  <p:cond delay="80"/>
                </p:stCondLst>
                <p:childTnLst>
                  <p:par>
                    <p:cTn id="1035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59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60" fill="hold">
                <p:stCondLst>
                  <p:cond delay="160"/>
                </p:stCondLst>
                <p:childTnLst>
                  <p:par>
                    <p:cTn id="1036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60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61" fill="hold">
                <p:stCondLst>
                  <p:cond delay="240"/>
                </p:stCondLst>
                <p:childTnLst>
                  <p:par>
                    <p:cTn id="1036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61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62" fill="hold">
                <p:stCondLst>
                  <p:cond delay="320"/>
                </p:stCondLst>
                <p:childTnLst>
                  <p:par>
                    <p:cTn id="1036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62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Meridian Component Catalog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flagship.css tokens &amp; 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363" fill="hold">
                <p:stCondLst>
                  <p:cond delay="0"/>
                </p:stCondLst>
                <p:childTnLst>
                  <p:par>
                    <p:cTn id="1036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63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64" fill="hold">
                <p:stCondLst>
                  <p:cond delay="80"/>
                </p:stCondLst>
                <p:childTnLst>
                  <p:par>
                    <p:cTn id="1036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64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65" fill="hold">
                <p:stCondLst>
                  <p:cond delay="160"/>
                </p:stCondLst>
                <p:childTnLst>
                  <p:par>
                    <p:cTn id="1036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65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Typography Classes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79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438400"/>
                <a:gridCol w="5608319"/>
              </a:tblGrid>
              <a:tr h="7924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Font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Usage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.fs-hero-title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Bebas Neue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Page hero headlines, clamp 4–9.5rem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.fs-eyebrow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Inter 600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Tracked uppercase label with meridian tick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.fs-lede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Intro paragraph, larger size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.fs-serif-quote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Playfair italic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Pull quotes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.fs-stat-rail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Bebas + Inter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Horizontal KPI strip with baselines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366" fill="hold">
                <p:stCondLst>
                  <p:cond delay="0"/>
                </p:stCondLst>
                <p:childTnLst>
                  <p:par>
                    <p:cTn id="1036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66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67" fill="hold">
                <p:stCondLst>
                  <p:cond delay="80"/>
                </p:stCondLst>
                <p:childTnLst>
                  <p:par>
                    <p:cTn id="1036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67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Interactive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79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2102"/>
                <a:gridCol w="7210697"/>
              </a:tblGrid>
              <a:tr h="7924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Behaviour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.btn-primary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Gold fill, notched corner, magnetic hover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.btn-blue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Brand blue fill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.tab-nav / .tab-pane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Tab switching via site.js initTabs()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.fx.fx-rise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Translate Y + fade entrance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.fx.fx-clip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Clip-path reveal for images/media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368" fill="hold">
                <p:stCondLst>
                  <p:cond delay="0"/>
                </p:stCondLst>
                <p:childTnLst>
                  <p:par>
                    <p:cTn id="1036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68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69" fill="hold">
                <p:stCondLst>
                  <p:cond delay="80"/>
                </p:stCondLst>
                <p:childTnLst>
                  <p:par>
                    <p:cTn id="1036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69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3D Global Operations Hero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hero-3d.js — homepage cinematic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370" fill="hold">
                <p:stCondLst>
                  <p:cond delay="0"/>
                </p:stCondLst>
                <p:childTnLst>
                  <p:par>
                    <p:cTn id="1037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70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71" fill="hold">
                <p:stCondLst>
                  <p:cond delay="80"/>
                </p:stCondLst>
                <p:childTnLst>
                  <p:par>
                    <p:cTn id="1037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71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72" fill="hold">
                <p:stCondLst>
                  <p:cond delay="160"/>
                </p:stCondLst>
                <p:childTnLst>
                  <p:par>
                    <p:cTn id="1037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72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Four Chapters (39-Second Loop)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79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706879"/>
                <a:gridCol w="5364480"/>
              </a:tblGrid>
              <a:tr h="950976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Chapter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Content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1 Planet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0.00 – 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~10s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Earth at distance; Africa rotates into view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2 Footprint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0.30 – 0.65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~12s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9 sites ignite from Dar HQ; route arcs draw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3 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0.65 – 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~9s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Facility callouts on leader lines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4 Identity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0.90 – 1.00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~3s + 5s hold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Logo finale overlay; fade; restart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373" fill="hold">
                <p:stCondLst>
                  <p:cond delay="0"/>
                </p:stCondLst>
                <p:childTnLst>
                  <p:par>
                    <p:cTn id="1037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73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74" fill="hold">
                <p:stCondLst>
                  <p:cond delay="80"/>
                </p:stCondLst>
                <p:childTnLst>
                  <p:par>
                    <p:cTn id="1037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74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Verified Sites (SITES array)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2926080"/>
                <a:gridCol w="2194560"/>
                <a:gridCol w="463296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City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Country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Dar es Salaam · HQ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Tanzania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Plot 49 Mikocheni — hub site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ke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Nairobi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Kenya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Kenya network base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rw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Kigali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Rwanda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Petroleum Rwanda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Bujumbura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Burundi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Burundi Petroleum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Lubumbashi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DR Congo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DRC Petroleum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zm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Ndola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Zambia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Petroleum Zambia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Addis Ababa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Ethiopia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Wadi Elsundus / WAS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mz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Beira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Mozambique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Oil LDA + AFICD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MERM · SAFF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Dubai · UAE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Middle East operations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375" fill="hold">
                <p:stCondLst>
                  <p:cond delay="0"/>
                </p:stCondLst>
                <p:childTnLst>
                  <p:par>
                    <p:cTn id="1037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75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76" fill="hold">
                <p:stCondLst>
                  <p:cond delay="80"/>
                </p:stCondLst>
                <p:childTnLst>
                  <p:par>
                    <p:cTn id="1037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76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Facility Callouts &amp; Textures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TANGA LPG TERMINAL — 3,000 MT storage, marine mooring buoy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DAR ES SALAAM PORT — Vessel bunkering, 38M-litre depot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LAKE STEEL · KIBAHA — HS-CR mill, 100,000 MT/yr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GCCP · DAR ES SALAAM — Ready-mix, Lugoba quarry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Textures: earth_color_2048.jpg, normal, specular, clouds from assets/images/planet/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77" fill="hold">
                <p:stCondLst>
                  <p:cond delay="0"/>
                </p:stCondLst>
                <p:childTnLst>
                  <p:par>
                    <p:cTn id="1037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77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78" fill="hold">
                <p:stCondLst>
                  <p:cond delay="80"/>
                </p:stCondLst>
                <p:childTnLst>
                  <p:par>
                    <p:cTn id="1037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78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3D Performance Optimizations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Quality Tiers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isLow = width&lt;768 OR cores&lt;4 → fewer segments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maybeDemoteQuality() after 90 frames &gt;33ms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IntersectionObserver pauses rAF off-screen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Lazy bundle load — does not block LCP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Memory &amp; Fallbacks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InstancedMesh: 9 country markers, single draw call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Canvas sprite labels generated once at init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prefers-reduced-motion → static finale, no WebGL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SW: network-first for hero-3d.bundle.js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79" fill="hold">
                <p:stCondLst>
                  <p:cond delay="0"/>
                </p:stCondLst>
                <p:childTnLst>
                  <p:par>
                    <p:cTn id="1037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79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80" fill="hold">
                <p:stCondLst>
                  <p:cond delay="80"/>
                </p:stCondLst>
                <p:childTnLst>
                  <p:par>
                    <p:cTn id="1038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80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81" fill="hold">
                <p:stCondLst>
                  <p:cond delay="160"/>
                </p:stCondLst>
                <p:childTnLst>
                  <p:par>
                    <p:cTn id="1038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81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82" fill="hold">
                <p:stCondLst>
                  <p:cond delay="240"/>
                </p:stCondLst>
                <p:childTnLst>
                  <p:par>
                    <p:cTn id="1038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82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83" fill="hold">
                <p:stCondLst>
                  <p:cond delay="320"/>
                </p:stCondLst>
                <p:childTnLst>
                  <p:par>
                    <p:cTn id="1038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83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3D Deep Dive —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boot() → checks reduced-motion → initHero3D() → is-ready class on success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Globe radius GLOBE_R=3.4; lat/lon via colatitude + GLOBE_CENTER_LON=30°E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Route arcs: TubeGeometry on quadratic Bezier; setDrawRange() animates drawing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Label sprites: 3× supersampled canvas textures; SITE_NAMES[lang] on i18n event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Camera: CAM_KEYS keyframes + smoothstep; mouse parallax ±6% (desktop only)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Edit workflow: hero-3d.js → build_hero_bundle.sh → bump ?v=N → bump sw.js VERSION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A6478"/>
                </a:solidFill>
                <a:latin typeface="Calibri"/>
              </a:defRPr>
            </a:pPr>
            <a:r>
              <a:t>QA: node scripts/_globe_qa2.js for automated frame 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84" fill="hold">
                <p:stCondLst>
                  <p:cond delay="0"/>
                </p:stCondLst>
                <p:childTnLst>
                  <p:par>
                    <p:cTn id="1038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84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85" fill="hold">
                <p:stCondLst>
                  <p:cond delay="80"/>
                </p:stCondLst>
                <p:childTnLst>
                  <p:par>
                    <p:cTn id="1038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85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86" fill="hold">
                <p:stCondLst>
                  <p:cond delay="160"/>
                </p:stCondLst>
                <p:childTnLst>
                  <p:par>
                    <p:cTn id="1038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86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Progressive Web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Installable, offline-capable, graceful updates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387" fill="hold">
                <p:stCondLst>
                  <p:cond delay="0"/>
                </p:stCondLst>
                <p:childTnLst>
                  <p:par>
                    <p:cTn id="1038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87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88" fill="hold">
                <p:stCondLst>
                  <p:cond delay="80"/>
                </p:stCondLst>
                <p:childTnLst>
                  <p:par>
                    <p:cTn id="1038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88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89" fill="hold">
                <p:stCondLst>
                  <p:cond delay="160"/>
                </p:stCondLst>
                <p:childTnLst>
                  <p:par>
                    <p:cTn id="1038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89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manifest.webmanifest Fields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79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2102"/>
                <a:gridCol w="7210697"/>
              </a:tblGrid>
              <a:tr h="67926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name / short_name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Group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start_url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./index.html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standalone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theme_color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#1D3EA8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background_color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#0E1F5A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icons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192, 512, maskable 192/512 in assets/icons/pwa/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390" fill="hold">
                <p:stCondLst>
                  <p:cond delay="0"/>
                </p:stCondLst>
                <p:childTnLst>
                  <p:par>
                    <p:cTn id="1039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90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91" fill="hold">
                <p:stCondLst>
                  <p:cond delay="80"/>
                </p:stCondLst>
                <p:childTnLst>
                  <p:par>
                    <p:cTn id="1039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91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Four Cache Buckets (sw.js v10)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79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2628"/>
                <a:gridCol w="6270171"/>
              </a:tblGrid>
              <a:tr h="950976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Cache Name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lake-precache-{VERSION}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Install-time precache (shell, fonts, core JS/CSS)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lake-pages-{VERSION}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HTML navigations (network-first)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lake-images-{VERSION}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Images (cache-first, max 150 entries LRU)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lake-assets-{VERSION}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JS/CSS/fonts/vendor (stale-while-revalidate)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392" fill="hold">
                <p:stCondLst>
                  <p:cond delay="0"/>
                </p:stCondLst>
                <p:childTnLst>
                  <p:par>
                    <p:cTn id="1039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92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93" fill="hold">
                <p:stCondLst>
                  <p:cond delay="80"/>
                </p:stCondLst>
                <p:childTnLst>
                  <p:par>
                    <p:cTn id="1039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93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Fetch Routing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79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2176"/>
                <a:gridCol w="3317358"/>
                <a:gridCol w="4593265"/>
              </a:tblGrid>
              <a:tr h="67926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Route Class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Examples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navigate (HTML)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Network-first → cache → offline.html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All .html pages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network-first-asset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Network-first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news-data.js, hero-3d.bundle.js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cache-first-asset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Cache-first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/assets/fonts/, /assets/vendor/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cache-first-image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Cache-first + LRU (150)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Most /assets/images/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swr-image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Stale-while-revalidate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n-slider, lake-story-assets, products/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swr-asset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Stale-while-revalidate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site.js, i18n, assistant, manifest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394" fill="hold">
                <p:stCondLst>
                  <p:cond delay="0"/>
                </p:stCondLst>
                <p:childTnLst>
                  <p:par>
                    <p:cTn id="1039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94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95" fill="hold">
                <p:stCondLst>
                  <p:cond delay="80"/>
                </p:stCondLst>
                <p:childTnLst>
                  <p:par>
                    <p:cTn id="1039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95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pwa.js Behaviour &amp; Offline Pages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Registers SW on window load; resolves sw.js URL relative to pwa.js (subpath-safe)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Update toast: navy background, gold border — 'Refresh' triggers SKIP_WAITING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controllerchange reload only if user clicked Refresh (no surprise reloads)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Silently no-ops on file:// or unsupported browsers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offline.html: PWA fallback with links to precached about, services, contact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404.html: branded not-found; assistant still works offline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396" fill="hold">
                <p:stCondLst>
                  <p:cond delay="0"/>
                </p:stCondLst>
                <p:childTnLst>
                  <p:par>
                    <p:cTn id="1039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96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97" fill="hold">
                <p:stCondLst>
                  <p:cond delay="80"/>
                </p:stCondLst>
                <p:childTnLst>
                  <p:par>
                    <p:cTn id="1039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97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Internationalization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English · French · Swahili — 1,442+ keys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398" fill="hold">
                <p:stCondLst>
                  <p:cond delay="0"/>
                </p:stCondLst>
                <p:childTnLst>
                  <p:par>
                    <p:cTn id="1039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98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399" fill="hold">
                <p:stCondLst>
                  <p:cond delay="80"/>
                </p:stCondLst>
                <p:childTnLst>
                  <p:par>
                    <p:cTn id="1039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399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00" fill="hold">
                <p:stCondLst>
                  <p:cond delay="160"/>
                </p:stCondLst>
                <p:childTnLst>
                  <p:par>
                    <p:cTn id="1040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00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i18n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solidFill>
            <a:srgbClr val="F6F5F1"/>
          </a:solidFill>
          <a:ln>
            <a:solidFill>
              <a:srgbClr val="D8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63500" cy="475488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HTML pages (data-i18n attributes)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 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    ▼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scripts/i18n_extract.py  →  discovers keys / orphans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 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    ▼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scripts/build_master_en.py  →  scripts/_master_en.json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 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    ▼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scripts/translation_dict.py  →  PHRASES_FR, PHRASES_SW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 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    ▼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scripts/build_i18n_content.py  →  assets/i18n-content.js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    │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    ▼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assets/i18n.js  →  applies to DOM + language switch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ll dur="500"/>
  </p:transition>
  <p:timing>
    <p:tnLst>
      <p:par>
        <p:cTn id="1" dur="indefinite" restart="never" nodeType="tmRoot">
          <p:childTnLst>
            <p:par>
              <p:cTn id="401" fill="hold">
                <p:stCondLst>
                  <p:cond delay="0"/>
                </p:stCondLst>
                <p:childTnLst>
                  <p:par>
                    <p:cTn id="1040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01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02" fill="hold">
                <p:stCondLst>
                  <p:cond delay="80"/>
                </p:stCondLst>
                <p:childTnLst>
                  <p:par>
                    <p:cTn id="1040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02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i18n Coverage &amp; Attributes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Languages: English (en), French (fr), Swahili (sw) — Portuguese removed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~1,442 translation keys across nav, footer, chat, homepage hero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Attributes: data-i18n, data-i18n-html, data-i18n-placeholder, data-i18n-title, data-i18n-alt, data-i18n-aria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Persists lake-lang in localStorage; dispatches lake-i18n-applied event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hero-3d.js reads LakeI18n.current for SITE_NAMES country labels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QA: node scripts/_qa_check_i18n.js validates key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03" fill="hold">
                <p:stCondLst>
                  <p:cond delay="0"/>
                </p:stCondLst>
                <p:childTnLst>
                  <p:par>
                    <p:cTn id="1040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03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04" fill="hold">
                <p:stCondLst>
                  <p:cond delay="80"/>
                </p:stCondLst>
                <p:childTnLst>
                  <p:par>
                    <p:cTn id="1040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04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Knowledge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Retrieval-based — no hallucination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405" fill="hold">
                <p:stCondLst>
                  <p:cond delay="0"/>
                </p:stCondLst>
                <p:childTnLst>
                  <p:par>
                    <p:cTn id="1040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05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06" fill="hold">
                <p:stCondLst>
                  <p:cond delay="80"/>
                </p:stCondLst>
                <p:childTnLst>
                  <p:par>
                    <p:cTn id="1040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06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07" fill="hold">
                <p:stCondLst>
                  <p:cond delay="160"/>
                </p:stCondLst>
                <p:childTnLst>
                  <p:par>
                    <p:cTn id="1040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07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Assistant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972800" cy="4754880"/>
          </a:xfrm>
          <a:prstGeom prst="rect">
            <a:avLst/>
          </a:prstGeom>
          <a:solidFill>
            <a:srgbClr val="F6F5F1"/>
          </a:solidFill>
          <a:ln>
            <a:solidFill>
              <a:srgbClr val="D8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63500" cy="475488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scripts/build_assistant_kb.js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├── reads assets/i18n-content.json (page chunks)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├── merges CURATED_FACTS from _verified_lake_facts.md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└── writes assets/assistant-kb.js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assets/assistant.js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├── FlexSearch index per language (en/fr/sw)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├── IndexedDB persistence (lake-assistant/messages)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├── Retrieves verbatim passages — never generates text</a:t>
            </a:r>
          </a:p>
          <a:p>
            <a:pPr>
              <a:spcAft>
                <a:spcPts val="200"/>
              </a:spcAft>
              <a:defRPr sz="1100">
                <a:solidFill>
                  <a:srgbClr val="1A2340"/>
                </a:solidFill>
                <a:latin typeface="Consolas"/>
              </a:defRPr>
            </a:pPr>
            <a:r>
              <a:t>    └── "Read more →" links to source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ll dur="500"/>
  </p:transition>
  <p:timing>
    <p:tnLst>
      <p:par>
        <p:cTn id="1" dur="indefinite" restart="never" nodeType="tmRoot">
          <p:childTnLst>
            <p:par>
              <p:cTn id="408" fill="hold">
                <p:stCondLst>
                  <p:cond delay="0"/>
                </p:stCondLst>
                <p:childTnLst>
                  <p:par>
                    <p:cTn id="1040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08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09" fill="hold">
                <p:stCondLst>
                  <p:cond delay="80"/>
                </p:stCondLst>
                <p:childTnLst>
                  <p:par>
                    <p:cTn id="1040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09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Assistant Deep Dive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Search 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Strip stopwords from query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FlexSearch index with tokenized query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Boost documents with f:1 (curated facts)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Return top hit as answer with source URL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Document 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{ id, t, s, u, k, f } — title, text, url, keywords, fact-boost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Chunking: MIN_LEN=30, CHUNK_TARGET=340 chars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Rebuild: node scripts/build_assistant_kb.js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Works offline on 404.html and offline.html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10" fill="hold">
                <p:stCondLst>
                  <p:cond delay="0"/>
                </p:stCondLst>
                <p:childTnLst>
                  <p:par>
                    <p:cTn id="1041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10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11" fill="hold">
                <p:stCondLst>
                  <p:cond delay="80"/>
                </p:stCondLst>
                <p:childTnLst>
                  <p:par>
                    <p:cTn id="1041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11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12" fill="hold">
                <p:stCondLst>
                  <p:cond delay="160"/>
                </p:stCondLst>
                <p:childTnLst>
                  <p:par>
                    <p:cTn id="1041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12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13" fill="hold">
                <p:stCondLst>
                  <p:cond delay="240"/>
                </p:stCondLst>
                <p:childTnLst>
                  <p:par>
                    <p:cTn id="1041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13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14" fill="hold">
                <p:stCondLst>
                  <p:cond delay="320"/>
                </p:stCondLst>
                <p:childTnLst>
                  <p:par>
                    <p:cTn id="1041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14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News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20 articles with search, filters, and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415" fill="hold">
                <p:stCondLst>
                  <p:cond delay="0"/>
                </p:stCondLst>
                <p:childTnLst>
                  <p:par>
                    <p:cTn id="1041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15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16" fill="hold">
                <p:stCondLst>
                  <p:cond delay="80"/>
                </p:stCondLst>
                <p:childTnLst>
                  <p:par>
                    <p:cTn id="1041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16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17" fill="hold">
                <p:stCondLst>
                  <p:cond delay="160"/>
                </p:stCondLst>
                <p:childTnLst>
                  <p:par>
                    <p:cTn id="1041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17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News Data Model &amp; Rendering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window.LAKE_NEWS — array of articles: id, title, date, category, bannerImage, description[], images[], video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news.html: renderNewsList(), filters by #news-search, #news-category, #news-country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news-article.html: reads ?id= param; renders full article with YouTube embed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Dynamic NewsArticle JSON-LD injected per article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Images: assets/images/news/{id}/photo_*.jpg; SW network-first for news-data.js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18" fill="hold">
                <p:stCondLst>
                  <p:cond delay="0"/>
                </p:stCondLst>
                <p:childTnLst>
                  <p:par>
                    <p:cTn id="1041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18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19" fill="hold">
                <p:stCondLst>
                  <p:cond delay="80"/>
                </p:stCondLst>
                <p:childTnLst>
                  <p:par>
                    <p:cTn id="1041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19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Africa Network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Leaflet — 22 markers, pipelines, country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420" fill="hold">
                <p:stCondLst>
                  <p:cond delay="0"/>
                </p:stCondLst>
                <p:childTnLst>
                  <p:par>
                    <p:cTn id="1042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20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21" fill="hold">
                <p:stCondLst>
                  <p:cond delay="80"/>
                </p:stCondLst>
                <p:childTnLst>
                  <p:par>
                    <p:cTn id="1042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21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22" fill="hold">
                <p:stCondLst>
                  <p:cond delay="160"/>
                </p:stCondLst>
                <p:childTnLst>
                  <p:par>
                    <p:cTn id="1042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22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Map Dependencies &amp; Tiles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Load Order (synchronous)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leaflet.css + leaflet.js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data_countries_africa.js → __LAKE_AFRICA_GEOJSON__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africa-network-map.js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Tile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Hybrid (default): Esri World Imagery + Transportation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Satellite, Terrain (OpenTopoMap), Streets (OSM)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GeoJSON via script tag — file:// safe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Tiles require network connection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23" fill="hold">
                <p:stCondLst>
                  <p:cond delay="0"/>
                </p:stCondLst>
                <p:childTnLst>
                  <p:par>
                    <p:cTn id="1042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23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24" fill="hold">
                <p:stCondLst>
                  <p:cond delay="80"/>
                </p:stCondLst>
                <p:childTnLst>
                  <p:par>
                    <p:cTn id="1042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24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25" fill="hold">
                <p:stCondLst>
                  <p:cond delay="160"/>
                </p:stCondLst>
                <p:childTnLst>
                  <p:par>
                    <p:cTn id="1042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25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26" fill="hold">
                <p:stCondLst>
                  <p:cond delay="240"/>
                </p:stCondLst>
                <p:childTnLst>
                  <p:par>
                    <p:cTn id="1042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26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27" fill="hold">
                <p:stCondLst>
                  <p:cond delay="320"/>
                </p:stCondLst>
                <p:childTnLst>
                  <p:par>
                    <p:cTn id="1042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27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Map Data Layers &amp;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countryLayer: GeoJSON fills for 8 ops countries + neighbours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assetLayer: 22 circle markers by type (hq, fuel, port, container, industrial, logistics)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pipelineLayer: TAZAMA pipeline, Northern corridor, Southern route polylines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window.LakeAfricaMap = { flyToCountry(), filterAssets(), resetView() }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Country cards call selectCountry(id, card) → map flyTo sync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28" fill="hold">
                <p:stCondLst>
                  <p:cond delay="0"/>
                </p:stCondLst>
                <p:childTnLst>
                  <p:par>
                    <p:cTn id="1042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28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29" fill="hold">
                <p:stCondLst>
                  <p:cond delay="80"/>
                </p:stCondLst>
                <p:childTnLst>
                  <p:par>
                    <p:cTn id="1042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29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Build &amp; Maintenance Scripts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Developer workflow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430" fill="hold">
                <p:stCondLst>
                  <p:cond delay="0"/>
                </p:stCondLst>
                <p:childTnLst>
                  <p:par>
                    <p:cTn id="1043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30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31" fill="hold">
                <p:stCondLst>
                  <p:cond delay="80"/>
                </p:stCondLst>
                <p:childTnLst>
                  <p:par>
                    <p:cTn id="1043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31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32" fill="hold">
                <p:stCondLst>
                  <p:cond delay="160"/>
                </p:stCondLst>
                <p:childTnLst>
                  <p:par>
                    <p:cTn id="1043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32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Build Scripts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79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2628"/>
                <a:gridCol w="6270171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Script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build_i18n_content.py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Generate i18n-content.json + .js from master + translations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build_master_en.py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Extract English strings into _master_en.json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build_assistant_kb.js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Generate assistant-kb.js knowledge base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build_hero_bundle.sh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esbuild hero-3d.js → hero-3d.bundle.js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normalize_nav.py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Inject nav/footer/chat templates into all HTML pages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add_seo_tags.js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Inject OG, canonical, description meta tags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add_pwa_tags.js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Inject manifest link, theme-color, apple-touch-icon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self_host_fonts.py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Download and wire self-hosted font files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_qa_check_links.js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Broken link checker across all pages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_qa_check_i18n.js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i18n key coverage validation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_globe_qa2.js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3D hero automated frame capture QA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generate_dev_pdf.sh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PDF generation for developer guide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433" fill="hold">
                <p:stCondLst>
                  <p:cond delay="0"/>
                </p:stCondLst>
                <p:childTnLst>
                  <p:par>
                    <p:cTn id="1043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33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34" fill="hold">
                <p:stCondLst>
                  <p:cond delay="80"/>
                </p:stCondLst>
                <p:childTnLst>
                  <p:par>
                    <p:cTn id="1043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34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QA &amp; Automation Scripts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79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2628"/>
                <a:gridCol w="6270171"/>
              </a:tblGrid>
              <a:tr h="67926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Script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_qa_matrix.js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Cross-page QA matrix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_qa_overflow_check.js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Horizontal overflow detection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_assistant_qa.js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Assistant retrieval QA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perf_pass.js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Performance audit pass on pages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inline_material_icons.py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Inline Material Symbols SVGs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add_theme_motion_tags.js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Inject CSS/JS link tags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435" fill="hold">
                <p:stCondLst>
                  <p:cond delay="0"/>
                </p:stCondLst>
                <p:childTnLst>
                  <p:par>
                    <p:cTn id="1043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35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36" fill="hold">
                <p:stCondLst>
                  <p:cond delay="80"/>
                </p:stCondLst>
                <p:childTnLst>
                  <p:par>
                    <p:cTn id="1043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36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SEO &amp; Structured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Discoverable, shareable, Google-ready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437" fill="hold">
                <p:stCondLst>
                  <p:cond delay="0"/>
                </p:stCondLst>
                <p:childTnLst>
                  <p:par>
                    <p:cTn id="1043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37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38" fill="hold">
                <p:stCondLst>
                  <p:cond delay="80"/>
                </p:stCondLst>
                <p:childTnLst>
                  <p:par>
                    <p:cTn id="1043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38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39" fill="hold">
                <p:stCondLst>
                  <p:cond delay="160"/>
                </p:stCondLst>
                <p:childTnLst>
                  <p:par>
                    <p:cTn id="1043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39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robots.txt &amp; sitemap.xml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robots.txt: Allow / · Disallow /offline.html, /dashboard.html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Sitemap: https://www.lakeoilgroup.com/sitemap.xml — 26 public URLs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Priority 1.0 homepage, 0.8 news, 0.7 content pages; lastmod 2026-07-04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Excluded: offline.html, dashboard.html, 404.html, our-story.html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40" fill="hold">
                <p:stCondLst>
                  <p:cond delay="0"/>
                </p:stCondLst>
                <p:childTnLst>
                  <p:par>
                    <p:cTn id="1044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40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41" fill="hold">
                <p:stCondLst>
                  <p:cond delay="80"/>
                </p:stCondLst>
                <p:childTnLst>
                  <p:par>
                    <p:cTn id="1044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41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Schema.org JSON-LD by Page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79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085"/>
                <a:gridCol w="7837714"/>
              </a:tblGrid>
              <a:tr h="67926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@type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Pages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Organization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index.html — company, founder, address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fuel, lpg, steel, concrete, logistics, lubricants, container-services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ContactPage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contact.html — ContactPoint, Organization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NewsArticle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news-article.html (dynamic per article)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BreadcrumbList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Most interior pages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CollectionPage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news.html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442" fill="hold">
                <p:stCondLst>
                  <p:cond delay="0"/>
                </p:stCondLst>
                <p:childTnLst>
                  <p:par>
                    <p:cTn id="1044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42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43" fill="hold">
                <p:stCondLst>
                  <p:cond delay="80"/>
                </p:stCondLst>
                <p:childTnLst>
                  <p:par>
                    <p:cTn id="1044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43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Open Graph &amp; Meta Tags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Per-page: description, og:title, og:description, og:image (og-cover.jpg)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twitter:card=summary_large_image on all major pages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Canonical URLs: https://www.lakeoilgroup.com/{page}.html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Maintained by scripts/add_seo_tags.js automated injector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44" fill="hold">
                <p:stCondLst>
                  <p:cond delay="0"/>
                </p:stCondLst>
                <p:childTnLst>
                  <p:par>
                    <p:cTn id="1044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44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45" fill="hold">
                <p:stCondLst>
                  <p:cond delay="80"/>
                </p:stCondLst>
                <p:childTnLst>
                  <p:par>
                    <p:cTn id="1044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45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Deployment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Firebase Hosting — npm run 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446" fill="hold">
                <p:stCondLst>
                  <p:cond delay="0"/>
                </p:stCondLst>
                <p:childTnLst>
                  <p:par>
                    <p:cTn id="1044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46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47" fill="hold">
                <p:stCondLst>
                  <p:cond delay="80"/>
                </p:stCondLst>
                <p:childTnLst>
                  <p:par>
                    <p:cTn id="1044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47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48" fill="hold">
                <p:stCondLst>
                  <p:cond delay="160"/>
                </p:stCondLst>
                <p:childTnLst>
                  <p:par>
                    <p:cTn id="1044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48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Pre-Deploy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Content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build_master_en.py → build_i18n_content.py (if copy changed)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node scripts/build_assistant_kb.js (if facts changed)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bash scripts/build_hero_bundle.sh (if 3D changed)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python3 scripts/normalize_nav.py (if templates changed)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Version Bumps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Bump VERSION in sw.js for precache changes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Bump ?v=N on hero-3d.bundle.js in index.html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Update sitemap.xml lastmod for changed pages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Run _qa_check_links.js and _qa_check_i18n.js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49" fill="hold">
                <p:stCondLst>
                  <p:cond delay="0"/>
                </p:stCondLst>
                <p:childTnLst>
                  <p:par>
                    <p:cTn id="1044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49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50" fill="hold">
                <p:stCondLst>
                  <p:cond delay="80"/>
                </p:stCondLst>
                <p:childTnLst>
                  <p:par>
                    <p:cTn id="1045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50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51" fill="hold">
                <p:stCondLst>
                  <p:cond delay="160"/>
                </p:stCondLst>
                <p:childTnLst>
                  <p:par>
                    <p:cTn id="1045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51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52" fill="hold">
                <p:stCondLst>
                  <p:cond delay="240"/>
                </p:stCondLst>
                <p:childTnLst>
                  <p:par>
                    <p:cTn id="1045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52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53" fill="hold">
                <p:stCondLst>
                  <p:cond delay="320"/>
                </p:stCondLst>
                <p:childTnLst>
                  <p:par>
                    <p:cTn id="1045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53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Post-Deploy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Hard-refresh homepage — verify 3D hero loads after scroll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Switch EN/FR/SW — verify nav and hero translate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Open assistant — query 'fuel stations Tanzania'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DevTools → Application → Service Workers — confirm new VERSION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Test offline: load site, go offline, navigate to about.html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Validate structured data: Google Rich Results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A6478"/>
                </a:solidFill>
                <a:latin typeface="Calibri"/>
              </a:defRPr>
            </a:pPr>
            <a:r>
              <a:t>npm run serve → Firebase hosting emulator for local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54" fill="hold">
                <p:stCondLst>
                  <p:cond delay="0"/>
                </p:stCondLst>
                <p:childTnLst>
                  <p:par>
                    <p:cTn id="1045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54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55" fill="hold">
                <p:stCondLst>
                  <p:cond delay="80"/>
                </p:stCondLst>
                <p:childTnLst>
                  <p:par>
                    <p:cTn id="1045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55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56" fill="hold">
                <p:stCondLst>
                  <p:cond delay="160"/>
                </p:stCondLst>
                <p:childTnLst>
                  <p:par>
                    <p:cTn id="1045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56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Accessibility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WCAG-aligned foundations built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457" fill="hold">
                <p:stCondLst>
                  <p:cond delay="0"/>
                </p:stCondLst>
                <p:childTnLst>
                  <p:par>
                    <p:cTn id="1045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57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58" fill="hold">
                <p:stCondLst>
                  <p:cond delay="80"/>
                </p:stCondLst>
                <p:childTnLst>
                  <p:par>
                    <p:cTn id="1045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58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59" fill="hold">
                <p:stCondLst>
                  <p:cond delay="160"/>
                </p:stCondLst>
                <p:childTnLst>
                  <p:par>
                    <p:cTn id="1045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59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Reduced Motion &amp; Semantics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prefers-reduced-motion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motion.js/flagship-motion.js skip animation classes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hero-3d.js shows static finale overlay, no WebGL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CSS transitions disabled under reduced motion 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D3EA8"/>
                </a:solidFill>
                <a:latin typeface="Calibri"/>
              </a:defRPr>
            </a:pPr>
            <a:r>
              <a:t>Semantic 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&lt;nav&gt;, &lt;main&gt;, &lt;footer&gt;, &lt;article&gt; landmarks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Heading hierarchy h1 → h2 → h3 per page</a:t>
            </a:r>
          </a:p>
          <a:p>
            <a:pPr>
              <a:spcAft>
                <a:spcPts val="800"/>
              </a:spcAft>
              <a:defRPr sz="1600">
                <a:solidFill>
                  <a:srgbClr val="1A2340"/>
                </a:solidFill>
                <a:latin typeface="Calibri"/>
              </a:defRPr>
            </a:pPr>
            <a:r>
              <a:t>• Alt text; data-i18n-alt for translated alts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60" fill="hold">
                <p:stCondLst>
                  <p:cond delay="0"/>
                </p:stCondLst>
                <p:childTnLst>
                  <p:par>
                    <p:cTn id="1046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60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61" fill="hold">
                <p:stCondLst>
                  <p:cond delay="80"/>
                </p:stCondLst>
                <p:childTnLst>
                  <p:par>
                    <p:cTn id="1046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61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62" fill="hold">
                <p:stCondLst>
                  <p:cond delay="160"/>
                </p:stCondLst>
                <p:childTnLst>
                  <p:par>
                    <p:cTn id="1046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62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63" fill="hold">
                <p:stCondLst>
                  <p:cond delay="240"/>
                </p:stCondLst>
                <p:childTnLst>
                  <p:par>
                    <p:cTn id="1046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63" dur="350" fill="hold"/>
                            <p:tgtEl>
                              <p:spTgt spid="8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64" fill="hold">
                <p:stCondLst>
                  <p:cond delay="320"/>
                </p:stCondLst>
                <p:childTnLst>
                  <p:par>
                    <p:cTn id="1046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64" dur="350" fill="hold"/>
                            <p:tgtEl>
                              <p:spTgt spid="9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Keyboard, ARIA &amp; Focus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Nav toggle: aria-label='Menu'; Language switcher: aria-label='Language'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Assistant: aria-label on open/close; role='status' on PWA toast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our-story.html: Space/→ keyboard navigation between scenes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Flagship --gold-deep (#C79B00) for WCAG-safe gold on light surfaces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Visible focus styles; assistant panel traps focus on mobile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65" fill="hold">
                <p:stCondLst>
                  <p:cond delay="0"/>
                </p:stCondLst>
                <p:childTnLst>
                  <p:par>
                    <p:cTn id="1046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65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66" fill="hold">
                <p:stCondLst>
                  <p:cond delay="80"/>
                </p:stCondLst>
                <p:childTnLst>
                  <p:par>
                    <p:cTn id="1046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66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Security &amp; Privacy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No tracking, local-only assistant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467" fill="hold">
                <p:stCondLst>
                  <p:cond delay="0"/>
                </p:stCondLst>
                <p:childTnLst>
                  <p:par>
                    <p:cTn id="1046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67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68" fill="hold">
                <p:stCondLst>
                  <p:cond delay="80"/>
                </p:stCondLst>
                <p:childTnLst>
                  <p:par>
                    <p:cTn id="1046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68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69" fill="hold">
                <p:stCondLst>
                  <p:cond delay="160"/>
                </p:stCondLst>
                <p:childTnLst>
                  <p:par>
                    <p:cTn id="1046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69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Security Notes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No user data sent to server — static site, mock forms only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Assistant conversations stored locally in IndexedDB only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SW never caches URLs with auth-like query params (token, apikey)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No third-party analytics scripts in production HTML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Map tiles contact Esri/OSM servers — disclose in privacy policy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dashboard.html is demo UI only — disallow in robots.txt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70" fill="hold">
                <p:stCondLst>
                  <p:cond delay="0"/>
                </p:stCondLst>
                <p:childTnLst>
                  <p:par>
                    <p:cTn id="1047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70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71" fill="hold">
                <p:stCondLst>
                  <p:cond delay="80"/>
                </p:stCondLst>
                <p:childTnLst>
                  <p:par>
                    <p:cTn id="1047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71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Performance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index.html inline CSS ~80KB — first paint critical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flagship.css ~45KB — render-blocking link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hero-3d.bundle.js ~500KB — lazy on IntersectionObserver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i18n-content.js ~200KB + assistant-kb.js ~150KB — defer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Font files (woff2) ~300KB total — preload critical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Target LCP: hero text before 3D loads; transform/opacity only for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72" fill="hold">
                <p:stCondLst>
                  <p:cond delay="0"/>
                </p:stCondLst>
                <p:childTnLst>
                  <p:par>
                    <p:cTn id="1047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72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73" fill="hold">
                <p:stCondLst>
                  <p:cond delay="80"/>
                </p:stCondLst>
                <p:childTnLst>
                  <p:par>
                    <p:cTn id="1047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73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Verified Operations Countries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Source: scripts/_verified_lake_facts.md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474" fill="hold">
                <p:stCondLst>
                  <p:cond delay="0"/>
                </p:stCondLst>
                <p:childTnLst>
                  <p:par>
                    <p:cTn id="1047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74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75" fill="hold">
                <p:stCondLst>
                  <p:cond delay="80"/>
                </p:stCondLst>
                <p:childTnLst>
                  <p:par>
                    <p:cTn id="1047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75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76" fill="hold">
                <p:stCondLst>
                  <p:cond delay="160"/>
                </p:stCondLst>
                <p:childTnLst>
                  <p:par>
                    <p:cTn id="1047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76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Nine Verified Countries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19200"/>
                <a:gridCol w="2682240"/>
                <a:gridCol w="487680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Country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ISO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City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Entities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Tanzania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Dar es Salaam (HQ)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Oil, Lake Gas, Lake Steel, GCCP, Lake Trans, AFICD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Kenya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KE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Nairobi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Oil Kenya, Mombasa port access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Zambia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ZM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Lusaka / Ndola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Petroleum Zambia, AFICD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Rwanda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RW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Kigali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Petroleum Rwanda, Lake Gas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Burundi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Bujumbura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Burundi Petroleum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DR Congo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CD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Lubumbashi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DRC Petroleum, Lake Trans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Ethiopia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Addis Ababa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Wadi Elsundus Petroleum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Mozambique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MZ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Beira / Maputo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Oil LDA, AFICD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UAE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Dubai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MERM Ready Mix, SAFF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477" fill="hold">
                <p:stCondLst>
                  <p:cond delay="0"/>
                </p:stCondLst>
                <p:childTnLst>
                  <p:par>
                    <p:cTn id="1047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77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78" fill="hold">
                <p:stCondLst>
                  <p:cond delay="80"/>
                </p:stCondLst>
                <p:childTnLst>
                  <p:par>
                    <p:cTn id="1047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78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828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D700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82880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Architectural Decision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Key design choices documented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push dur="600" dir="l"/>
  </p:transition>
  <p:timing>
    <p:tnLst>
      <p:par>
        <p:cTn id="1" dur="indefinite" restart="never" nodeType="tmRoot">
          <p:childTnLst>
            <p:par>
              <p:cTn id="479" fill="hold">
                <p:stCondLst>
                  <p:cond delay="0"/>
                </p:stCondLst>
                <p:childTnLst>
                  <p:par>
                    <p:cTn id="1047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79" dur="350" fill="hold"/>
                            <p:tgtEl>
                              <p:spTgt spid="2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80" fill="hold">
                <p:stCondLst>
                  <p:cond delay="80"/>
                </p:stCondLst>
                <p:childTnLst>
                  <p:par>
                    <p:cTn id="1048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80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81" fill="hold">
                <p:stCondLst>
                  <p:cond delay="160"/>
                </p:stCondLst>
                <p:childTnLst>
                  <p:par>
                    <p:cTn id="1048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81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ADR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ADR-001 Static MPA: plain HTML + vanilla JS — zero framework runtime, independent cacheability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ADR-002 Script-loaded globals: i18n, GeoJSON, KB, 3D bundle via &lt;script&gt; — file:// safe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ADR-003 FlexSearch assistant: build-time KB + verbatim retrieval — no API costs, no hallucination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ADR-004 Dual design system: incremental Meridian rollout — both precached until index.html migrates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ADR-005 Lazy-load 3D: IntersectionObserver +600px — ~500KB bundle must not block LCP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A6478"/>
                </a:solidFill>
                <a:latin typeface="Calibri"/>
              </a:defRPr>
            </a:pPr>
            <a:r>
              <a:t>Full ADR text in DEVELOPER_GUIDE.pdf §36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82" fill="hold">
                <p:stCondLst>
                  <p:cond delay="0"/>
                </p:stCondLst>
                <p:childTnLst>
                  <p:par>
                    <p:cTn id="1048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82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83" fill="hold">
                <p:stCondLst>
                  <p:cond delay="80"/>
                </p:stCondLst>
                <p:childTnLst>
                  <p:par>
                    <p:cTn id="1048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83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84" fill="hold">
                <p:stCondLst>
                  <p:cond delay="160"/>
                </p:stCondLst>
                <p:childTnLst>
                  <p:par>
                    <p:cTn id="1048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84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Firebase Hosting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Production URL: https://www.lakeoilgroup.com/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Deploy: npm run deploy → firebase deploy --only hosting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Local: npm run serve → Firebase hosting emulator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Global CDN, HTTPS by default, clean cache headers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firebase.json + .firebaserc configured locally (not committed)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85" fill="hold">
                <p:stCondLst>
                  <p:cond delay="0"/>
                </p:stCondLst>
                <p:childTnLst>
                  <p:par>
                    <p:cTn id="1048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85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86" fill="hold">
                <p:stCondLst>
                  <p:cond delay="80"/>
                </p:stCondLst>
                <p:childTnLst>
                  <p:par>
                    <p:cTn id="1048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86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Migration &amp; Version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194560"/>
                <a:gridCol w="5852160"/>
              </a:tblGrid>
              <a:tr h="67926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Flagship CSS rollout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28/29 pages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index.html remains on theme.css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i18n architecture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Complete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~1,442 keys; partial long-tail coverage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PWA / Service Worker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v10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Bump VERSION per deploy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Knowledge Assistant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Live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Replaces legacy chat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hero-3d bundle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v9 query 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file:// safe; lazy-loaded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Portuguese (PT)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Removed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Replaced with Swahili (SW)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487" fill="hold">
                <p:stCondLst>
                  <p:cond delay="0"/>
                </p:stCondLst>
                <p:childTnLst>
                  <p:par>
                    <p:cTn id="1048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87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88" fill="hold">
                <p:stCondLst>
                  <p:cond delay="80"/>
                </p:stCondLst>
                <p:childTnLst>
                  <p:par>
                    <p:cTn id="1048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88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Subsidiaries &amp; Page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7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085"/>
                <a:gridCol w="3762102"/>
                <a:gridCol w="4075611"/>
              </a:tblGrid>
              <a:tr h="5283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Subsidiary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Sector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Page</a:t>
                      </a:r>
                    </a:p>
                  </a:txBody>
                  <a:tcPr>
                    <a:solidFill>
                      <a:srgbClr val="0E1F5A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Fuel &amp; Petroleum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fuel.html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Gas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LPG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lpg.html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Lubes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Lubricants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lubricants.html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Steel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Steel &amp; Rebars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steel.html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GCCP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Concrete &amp; Aggregate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concrete.html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Lake Trans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Logistics &amp; Haulage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logistics.html, fleet.html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AFICD / ACFS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Container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container-services.html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MERM Dubai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Ready Mix (UAE)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340"/>
                          </a:solidFill>
                          <a:latin typeface="Calibri"/>
                        </a:defRPr>
                      </a:pPr>
                      <a:r>
                        <a:t>Referenced in 3D hero (ae)</a:t>
                      </a:r>
                    </a:p>
                  </a:txBody>
                  <a:tcPr>
                    <a:solidFill>
                      <a:srgbClr val="F8F9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wipe dur="550" dir="l"/>
  </p:transition>
  <p:timing>
    <p:tnLst>
      <p:par>
        <p:cTn id="1" dur="indefinite" restart="never" nodeType="tmRoot">
          <p:childTnLst>
            <p:par>
              <p:cTn id="489" fill="hold">
                <p:stCondLst>
                  <p:cond delay="0"/>
                </p:stCondLst>
                <p:childTnLst>
                  <p:par>
                    <p:cTn id="1048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89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90" fill="hold">
                <p:stCondLst>
                  <p:cond delay="80"/>
                </p:stCondLst>
                <p:childTnLst>
                  <p:par>
                    <p:cTn id="10490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90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Brand Colour 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Navy #0E1F5A — headers, ink bands, PWA toast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Blue #1D3EA8 — primary brand, theme-color, buttons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Gold #FFD700 — accents, CTAs, meridian ticks (WCAG: --gold-deep #C79B00 on light)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Paper #F6F5F1 — flagship light sections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Ink #070C1E — flagship dark bands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91" fill="hold">
                <p:stCondLst>
                  <p:cond delay="0"/>
                </p:stCondLst>
                <p:childTnLst>
                  <p:par>
                    <p:cTn id="10491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91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92" fill="hold">
                <p:stCondLst>
                  <p:cond delay="80"/>
                </p:stCondLst>
                <p:childTnLst>
                  <p:par>
                    <p:cTn id="10492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92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Key Takeaways for Stakeholders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Premium verified corporate platform — 29 pages, 3 languages, 9 countries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3D homepage tells the Africa operations story with verified data only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Installable PWA — works offline, updates gracefully, no app store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SEO-ready — sitemap, Schema.org, Open Graph on every public page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Knowledge assistant — instant auditable answers, works offline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Meridian design system — precision-engineering editorial across 28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93" fill="hold">
                <p:stCondLst>
                  <p:cond delay="0"/>
                </p:stCondLst>
                <p:childTnLst>
                  <p:par>
                    <p:cTn id="10493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93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94" fill="hold">
                <p:stCondLst>
                  <p:cond delay="80"/>
                </p:stCondLst>
                <p:childTnLst>
                  <p:par>
                    <p:cTn id="10494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94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1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Documentation &amp; Maintenance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164592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98448"/>
            <a:ext cx="50292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DEVELOPER_GUIDE.pdf — full technical reference (80+ pages, 40 sections)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docs/developer-guide.html — browsable HTML version with deep links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Content verified against scripts/_verified_lake_facts.md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Build scripts for translations, assistant KB, 3D bundle, nav templates</a:t>
            </a:r>
          </a:p>
          <a:p>
            <a:pPr>
              <a:spcAft>
                <a:spcPts val="1200"/>
              </a:spcAft>
              <a:defRPr sz="1800">
                <a:solidFill>
                  <a:srgbClr val="1A2340"/>
                </a:solidFill>
                <a:latin typeface="Calibri"/>
              </a:defRPr>
            </a:pPr>
            <a:r>
              <a:t>Designed for long-term maintainability and incremental enhancement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A6478"/>
                </a:solidFill>
                <a:latin typeface="Calibri"/>
              </a:defRPr>
            </a:pPr>
            <a:r>
              <a:t>Repository: github.com/Smarderve/Lake.Group.Web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78"/>
                </a:solidFill>
                <a:latin typeface="Calibri"/>
              </a:defRPr>
            </a:pPr>
            <a:r>
              <a:t>lakeoilgroup.com  ·  July 2026</a:t>
            </a:r>
          </a:p>
        </p:txBody>
      </p:sp>
    </p:spTree>
  </p:cSld>
  <p:clrMapOvr>
    <a:masterClrMapping/>
  </p:clrMapOvr>
  <p:transition spd="med" advClick="1">
    <p:fade dur="500"/>
  </p:transition>
  <p:timing>
    <p:tnLst>
      <p:par>
        <p:cTn id="1" dur="indefinite" restart="never" nodeType="tmRoot">
          <p:childTnLst>
            <p:par>
              <p:cTn id="495" fill="hold">
                <p:stCondLst>
                  <p:cond delay="0"/>
                </p:stCondLst>
                <p:childTnLst>
                  <p:par>
                    <p:cTn id="10495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95" dur="350" fill="hold"/>
                            <p:tgtEl>
                              <p:spTgt spid="3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96" fill="hold">
                <p:stCondLst>
                  <p:cond delay="80"/>
                </p:stCondLst>
                <p:childTnLst>
                  <p:par>
                    <p:cTn id="10496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96" dur="350" fill="hold"/>
                            <p:tgtEl>
                              <p:spTgt spid="6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97" fill="hold">
                <p:stCondLst>
                  <p:cond delay="160"/>
                </p:stCondLst>
                <p:childTnLst>
                  <p:par>
                    <p:cTn id="10497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97" dur="350" fill="hold"/>
                            <p:tgtEl>
                              <p:spTgt spid="7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D700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651760"/>
            <a:ext cx="1097280" cy="50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Questions &amp;</a:t>
            </a:r>
            <a:br/>
            <a: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CD4E8"/>
                </a:solidFill>
                <a:latin typeface="Calibri"/>
              </a:defRPr>
            </a:pPr>
            <a:r>
              <a:t>Full reference: DEVELOPER_GUIDE.pdf  ·  lakeoilgroup.com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4CC"/>
                </a:solidFill>
                <a:latin typeface="Calibri"/>
              </a:defRPr>
            </a:pPr>
            <a:r>
              <a:t>Lake Group — Powering East &amp; Central Africa</a:t>
            </a:r>
          </a:p>
        </p:txBody>
      </p:sp>
    </p:spTree>
  </p:cSld>
  <p:clrMapOvr>
    <a:masterClrMapping/>
  </p:clrMapOvr>
  <p:transition spd="med" advClick="1">
    <p:fade dur="800"/>
  </p:transition>
  <p:timing>
    <p:tnLst>
      <p:par>
        <p:cTn id="1" dur="indefinite" restart="never" nodeType="tmRoot">
          <p:childTnLst>
            <p:par>
              <p:cTn id="498" fill="hold">
                <p:stCondLst>
                  <p:cond delay="0"/>
                </p:stCondLst>
                <p:childTnLst>
                  <p:par>
                    <p:cTn id="10498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98" dur="350" fill="hold"/>
                            <p:tgtEl>
                              <p:spTgt spid="4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  <p:par>
              <p:cTn id="499" fill="hold">
                <p:stCondLst>
                  <p:cond delay="80"/>
                </p:stCondLst>
                <p:childTnLst>
                  <p:par>
                    <p:cTn id="10499" fill="hold" presetID="10" presetClass="entr" presetSubtype="0" nodeType="withEffect">
                      <p:stCondLst>
                        <p:cond delay="0"/>
                      </p:stCondLst>
                      <p:childTnLst>
                        <p:set>
                          <p:cBhvr dur="350" fill="hold">
                            <p:cTn id="20499" dur="350" fill="hold"/>
                            <p:tgtEl>
                              <p:spTgt spid="5"/>
                            </p:tgtEl>
                          </p:cBhvr>
                          <p:attrNameLst>
                            <p:attrName>style.visibility</p:attrName>
                          </p:attrNameLst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