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Calibri"/>
              </a:defRPr>
            </a:pPr>
            <a:r>
              <a:t>LAKE 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Digital Platform</a:t>
            </a:r>
            <a:br/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4E8"/>
                </a:solidFill>
                <a:latin typeface="Calibri"/>
              </a:defRPr>
            </a:pPr>
            <a:r>
              <a:t>A modern corporate web experience for sponsors, partners &amp;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A8C8"/>
                </a:solidFill>
              </a:defRPr>
            </a:pPr>
            <a:r>
              <a:t>29 pages  ·  3 languages  ·  8 countries  ·  PWA-enabled  ·  lakeoilgroup.com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4CC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2340"/>
                </a:solidFill>
              </a:defRPr>
            </a:pPr>
            <a:r>
              <a:t>01   Platform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7393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2340"/>
                </a:solidFill>
              </a:defRPr>
            </a:pPr>
            <a:r>
              <a:t>02   Design &amp; brand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2340"/>
                </a:solidFill>
              </a:defRPr>
            </a:pPr>
            <a:r>
              <a:t>03   3D Global Operations hero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78608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2340"/>
                </a:solidFill>
              </a:defRPr>
            </a:pPr>
            <a:r>
              <a:t>04   Languages &amp; 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80944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2340"/>
                </a:solidFill>
              </a:defRPr>
            </a:pPr>
            <a:r>
              <a:t>05   Progressive Web App (PWA)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2340"/>
                </a:solidFill>
              </a:defRPr>
            </a:pPr>
            <a:r>
              <a:t>06   Search &amp; discoverability (SEO)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8561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2340"/>
                </a:solidFill>
              </a:defRPr>
            </a:pPr>
            <a:r>
              <a:t>07   Knowledge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87952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2340"/>
                </a:solidFill>
              </a:defRPr>
            </a:pPr>
            <a:r>
              <a:t>08   Content &amp;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90288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2340"/>
                </a:solidFill>
              </a:defRPr>
            </a:pPr>
            <a:r>
              <a:t>09   Maps, news &amp; media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92624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2340"/>
                </a:solidFill>
              </a:defRPr>
            </a:pPr>
            <a:r>
              <a:t>10   Accessibility, security &amp; hosting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2340"/>
                </a:solidFill>
              </a:defRPr>
            </a:pPr>
            <a:r>
              <a:t>11   Summary &amp; 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D700"/>
                </a:solidFill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2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Platform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4E8"/>
                </a:solidFill>
                <a:latin typeface="Calibri"/>
              </a:defRPr>
            </a:pPr>
            <a:r>
              <a:t>What we built and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4CC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Lake Group website in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2286000" cy="3474720"/>
          </a:xfrm>
          <a:prstGeom prst="rect">
            <a:avLst/>
          </a:prstGeom>
          <a:solidFill>
            <a:srgbClr val="F6F5F1"/>
          </a:solidFill>
          <a:ln>
            <a:solidFill>
              <a:srgbClr val="D8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057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D3EA8"/>
                </a:solidFill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2057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A6478"/>
                </a:solidFill>
              </a:defRPr>
            </a:pPr>
            <a:r>
              <a:t>Web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828800"/>
            <a:ext cx="2286000" cy="3474720"/>
          </a:xfrm>
          <a:prstGeom prst="rect">
            <a:avLst/>
          </a:prstGeom>
          <a:solidFill>
            <a:srgbClr val="F6F5F1"/>
          </a:solidFill>
          <a:ln>
            <a:solidFill>
              <a:srgbClr val="D8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194560"/>
            <a:ext cx="2057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D3EA8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291840"/>
            <a:ext cx="2057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A6478"/>
                </a:solidFill>
              </a:defRPr>
            </a:pPr>
            <a:r>
              <a:t>Languages</a:t>
            </a:r>
            <a:br/>
            <a:r>
              <a:t>EN · FR · SW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828800"/>
            <a:ext cx="2286000" cy="3474720"/>
          </a:xfrm>
          <a:prstGeom prst="rect">
            <a:avLst/>
          </a:prstGeom>
          <a:solidFill>
            <a:srgbClr val="F6F5F1"/>
          </a:solidFill>
          <a:ln>
            <a:solidFill>
              <a:srgbClr val="D8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194560"/>
            <a:ext cx="2057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D3EA8"/>
                </a:solidFill>
              </a:defRPr>
            </a:pPr>
            <a:r>
              <a:t>8+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291840"/>
            <a:ext cx="2057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A6478"/>
                </a:solidFill>
              </a:defRPr>
            </a:pPr>
            <a:r>
              <a:t>Countries</a:t>
            </a:r>
            <a:br/>
            <a:r>
              <a:t>of operation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828800"/>
            <a:ext cx="2286000" cy="3474720"/>
          </a:xfrm>
          <a:prstGeom prst="rect">
            <a:avLst/>
          </a:prstGeom>
          <a:solidFill>
            <a:srgbClr val="F6F5F1"/>
          </a:solidFill>
          <a:ln>
            <a:solidFill>
              <a:srgbClr val="D8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2057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D3EA8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91840"/>
            <a:ext cx="2057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A6478"/>
                </a:solidFill>
              </a:defRPr>
            </a:pPr>
            <a:r>
              <a:t>Installable</a:t>
            </a:r>
            <a:br/>
            <a:r>
              <a:t>PWA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Built for trust, scale &amp; clarity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A premium corporate digital presence for investors, partners &amp; sponsors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Every fact on the site is verified against official Lake Group sources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Fast, secure static architecture — hosted on Firebase CDN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Works on phones, tablets &amp; desktop — including spotty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6478"/>
                </a:solidFill>
              </a:defRPr>
            </a:pPr>
            <a:r>
              <a:t>Full technical reference: DEVELOPER_GUIDE.pdf in the project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the platform is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Static multi-page site — each section is its own page (no login required)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Shared navigation, footer &amp; language switcher on every page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Homepage: flagship hero + 3D globe experience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Interior pages: unified Meridian design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D700"/>
                </a:solidFill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2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Design &amp; Brand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4E8"/>
                </a:solidFill>
                <a:latin typeface="Calibri"/>
              </a:defRPr>
            </a:pPr>
            <a:r>
              <a:t>Meridian — precision-engineering editorial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4CC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Meridian design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Ink navy &amp; warm paper — corporate, not cluttered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Bebas Neue display type + Inter body text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Lake Gold (#FFD700) used sparingly — ticks, CTAs, key numbers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Sharp geometry, hairline rules, numbered section markers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Motion &amp; interaction — subtle, not distracting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Scroll-reveal animations as you move down each page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Gentle hover effects on buttons, cards &amp; links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Respects “reduced motion” user preferences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Homepage &amp; interior pages each have tailored motion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D700"/>
                </a:solidFill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2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3D Global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4E8"/>
                </a:solidFill>
                <a:latin typeface="Calibri"/>
              </a:defRPr>
            </a:pPr>
            <a:r>
              <a:t>Homepage cinematic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4CC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An interactive Earth — not decoration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Real NASA satellite imagery on a 3D globe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Shows Lake Group’s verified operational footprint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~39 second autonomous story loop on the homepage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Pauses when off-screen — saves battery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Four chapters of the 3D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① Planet — Earth at distance, Africa rotates into view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② Footprint — 9 countries light up from Dar es Salaam HQ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③ Operations — facility callouts (Tanga LPG, Dar port, Kibaha steel…)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④ Identity — Lake Group logo &amp; tagline finale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Verified data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3EA8"/>
                </a:solidFill>
              </a:defRPr>
            </a:pPr>
            <a:r>
              <a:t>9 operational 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Tanzania (HQ) · Kenya · Rwanda</a:t>
            </a:r>
          </a:p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Burundi · DR Congo · Zambia</a:t>
            </a:r>
          </a:p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Ethiopia · Mozambique · Dubai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3EA8"/>
                </a:solidFill>
              </a:defRPr>
            </a:pPr>
            <a:r>
              <a:t>4 facility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Tanga LPG Terminal</a:t>
            </a:r>
          </a:p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Dar es Salaam Port</a:t>
            </a:r>
          </a:p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Lake Steel · Kibaha</a:t>
            </a:r>
          </a:p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GCCP · Dar es Salaam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D700"/>
                </a:solidFill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2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Languages &amp; 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4E8"/>
                </a:solidFill>
                <a:latin typeface="Calibri"/>
              </a:defRPr>
            </a:pPr>
            <a:r>
              <a:t>One site, three audiences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4CC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Trilingual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English · French · Swahili — full site coverage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Language choice remembered across pages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One click on any page — instant switch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~1,370 translated content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three languages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English — regional &amp; international business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French — Central &amp; East African Francophone markets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Swahili — East African local engagement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Assistant &amp; 3D labels follow the active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D700"/>
                </a:solidFill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2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Progressive Web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4E8"/>
                </a:solidFill>
                <a:latin typeface="Calibri"/>
              </a:defRPr>
            </a:pPr>
            <a:r>
              <a:t>App-like experience, no app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4CC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PWA means for Lake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Visitors can add the site to their phone home screen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Opens full-screen — looks &amp; feels like a native app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Core pages work offline after first visit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Branded offline page when connection is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Smart caching — fast &amp; always 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Pages try the network first — content stays up to date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Fonts &amp; icons cached — instant repeat visits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Users get a gentle “new version available” prompt on updates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No forced reloads mid-browsing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D700"/>
                </a:solidFill>
              </a:defRPr>
            </a:pPr>
            <a: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2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Search &amp; Discoverability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4E8"/>
                </a:solidFill>
                <a:latin typeface="Calibri"/>
              </a:defRPr>
            </a:pPr>
            <a:r>
              <a:t>Found by Google &amp;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4CC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SEO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26-page sitemap submitted to search engines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Unique title &amp; description on every public page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Social sharing previews (LinkedIn, WhatsApp, Twitter)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Canonical URLs — no duplicate-content penalties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Structured data (Schema.org)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Google understands Lake Group as an Organization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Each service page marked as a Service (fuel, LPG, steel…)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Contact page flagged as ContactPage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Breadcrumb trails on every inner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D700"/>
                </a:solidFill>
              </a:defRPr>
            </a:pPr>
            <a: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2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Knowledge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4E8"/>
                </a:solidFill>
                <a:latin typeface="Calibri"/>
              </a:defRPr>
            </a:pPr>
            <a:r>
              <a:t>Instant answers, works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4CC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Lake Assistant — on every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Floating chat widget — desktop panel, mobile bottom sheet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Answers from verified company facts &amp; page content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Works without internet after first load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Available in English, French &amp; Swahili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6478"/>
                </a:solidFill>
              </a:defRPr>
            </a:pPr>
            <a:r>
              <a:t>Retrieval-based — cites real content, does not invent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D700"/>
                </a:solidFill>
              </a:defRPr>
            </a:pPr>
            <a: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2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Content &amp;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4E8"/>
                </a:solidFill>
                <a:latin typeface="Calibri"/>
              </a:defRPr>
            </a:pPr>
            <a:r>
              <a:t>Complete corporate footprint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4CC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Company &amp; corporate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3EA8"/>
                </a:solidFill>
              </a:defRPr>
            </a:pPr>
            <a: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About · History · Leadership</a:t>
            </a:r>
          </a:p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CSR · Sustainability · Investors</a:t>
            </a:r>
          </a:p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Careers · Contact ·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3EA8"/>
                </a:solidFill>
              </a:defRPr>
            </a:pPr>
            <a:r>
              <a:t>Services &amp; divisions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Fuel &amp; Petroleum · LPG · Lubricants</a:t>
            </a:r>
          </a:p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Lake Steel · GCCP Concrete</a:t>
            </a:r>
          </a:p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Logistics · Container Services</a:t>
            </a:r>
          </a:p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Services hub · Fleet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Network &amp;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3EA8"/>
                </a:solidFill>
              </a:defRPr>
            </a:pPr>
            <a:r>
              <a:t>Where we operate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Africa Network — interactive map</a:t>
            </a:r>
          </a:p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Station Locator</a:t>
            </a:r>
          </a:p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Our Story — cinematic brand film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3EA8"/>
                </a:solidFill>
              </a:defRPr>
            </a:pPr>
            <a:r>
              <a:t>News &amp; gallery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News &amp; Events — 20 articles</a:t>
            </a:r>
          </a:p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Media Center · Photo Gallery</a:t>
            </a:r>
          </a:p>
          <a:p>
            <a:pPr>
              <a:spcAft>
                <a:spcPts val="1000"/>
              </a:spcAft>
              <a:defRPr sz="1700">
                <a:solidFill>
                  <a:srgbClr val="1A2340"/>
                </a:solidFill>
              </a:defRPr>
            </a:pPr>
            <a:r>
              <a:t>• Press-ready assets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Eight business divisions — one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Lake Oil · Lake Gas · Lake Trans · Lake Steel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GCCP Concrete · Lake Lubes · AFICD Containers · MERM Dubai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Each division has a dedicated service page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Consistent branding, unique content per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D700"/>
                </a:solidFill>
              </a:defRPr>
            </a:pPr>
            <a: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2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Maps, News &amp;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4E8"/>
                </a:solidFill>
                <a:latin typeface="Calibri"/>
              </a:defRPr>
            </a:pPr>
            <a:r>
              <a:t>Interactive &amp; up to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4CC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Africa Network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Full-width satellite map on africa-network.html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30+ verified facilities — ports, depots, mills, HQ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Filter by country · tap markers for details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Powered by Leaflet — industry-standard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News &amp; events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20 news articles with photos &amp; optional video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Search &amp; filter by category or country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Dedicated article pages with related stories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YouTube embed support for video announcements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D700"/>
                </a:solidFill>
              </a:defRPr>
            </a:pPr>
            <a: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2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Accessibility, Security &amp; Hosting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4E8"/>
                </a:solidFill>
                <a:latin typeface="Calibri"/>
              </a:defRPr>
            </a:pPr>
            <a:r>
              <a:t>Enterprise-grade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4CC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Accessibility built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Reduced-motion mode disables animations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Screen-reader labels on assistant &amp; navigation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Semantic HTML structure throughout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3D hero falls back to static logo when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No user tracking scripts in the codebase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Assistant conversations stored locally only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Service worker never caches sensitive URLs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Demo dashboard excluded from search engines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Hosting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Firebase Hosting — global CDN, HTTPS by default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One-command deploy: npm run deploy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Versioned service worker — clean updates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Production URL: www.lakeoilgroup.com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D700"/>
                </a:solidFill>
              </a:defRPr>
            </a:pPr>
            <a: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2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4E8"/>
                </a:solidFill>
                <a:latin typeface="Calibri"/>
              </a:defRPr>
            </a:pPr>
            <a:r>
              <a:t>What sponsors &amp; partners should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4CC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Premium, verified corporate platform — 29 pages, 3 languages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3D homepage tells the Africa operations story visually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Installable PWA — works offline, updates gracefully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SEO-ready — discoverable, shareable, structured for Google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Knowledge assistant — instant answers for visitors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Documentation &amp;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DEVELOPER_GUIDE.pdf — full technical reference (80+ pages)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Content verified against official Lake Group facts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Build scripts for translations, assistant &amp; 3D bundle</a:t>
            </a:r>
          </a:p>
          <a:p>
            <a:pPr>
              <a:spcAft>
                <a:spcPts val="1400"/>
              </a:spcAft>
              <a:defRPr sz="2000">
                <a:solidFill>
                  <a:srgbClr val="1A2340"/>
                </a:solidFill>
                <a:latin typeface="Calibri"/>
              </a:defRPr>
            </a:pPr>
            <a:r>
              <a:t>Designed for long-term maintainability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6478"/>
                </a:solidFill>
              </a:defRPr>
            </a:pPr>
            <a:r>
              <a:t>Repository: github.com/Smarderve/Lake.Group.Web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8"/>
                </a:solidFill>
              </a:defRPr>
            </a:pPr>
            <a:r>
              <a:t>lakeoilgroup.com  ·  July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Questions &amp;</a:t>
            </a:r>
            <a:br/>
            <a: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4E8"/>
                </a:solidFill>
                <a:latin typeface="Calibri"/>
              </a:defRPr>
            </a:pPr>
            <a:r>
              <a:t>lakeoilgroup.com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4CC"/>
                </a:solidFill>
              </a:defRPr>
            </a:pPr>
            <a:r>
              <a:t>Lake Group — Powering East &amp; Central Africa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